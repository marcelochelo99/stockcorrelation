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2170b0d89c43df" /><Relationship Type="http://schemas.openxmlformats.org/officeDocument/2006/relationships/extended-properties" Target="/docProps/app.xml" Id="R70fcdb3c6521413e" /><Relationship Type="http://schemas.openxmlformats.org/officeDocument/2006/relationships/officeDocument" Target="/ppt/presentation.xml" Id="Ra7fbe529900246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b2b41f87b0418e"/>
  </p:sldMasterIdLst>
  <p:notesMasterIdLst>
    <p:notesMasterId xmlns:r="http://schemas.openxmlformats.org/officeDocument/2006/relationships" r:id="R3c727c8dac6646f3"/>
  </p:notesMasterIdLst>
  <p:sldIdLst>
    <p:sldId xmlns:r="http://schemas.openxmlformats.org/officeDocument/2006/relationships" id="256" r:id="Rcac434aaf1364536"/>
    <p:sldId xmlns:r="http://schemas.openxmlformats.org/officeDocument/2006/relationships" id="257" r:id="R47e06c708b624fd6"/>
    <p:sldId xmlns:r="http://schemas.openxmlformats.org/officeDocument/2006/relationships" id="258" r:id="R6fdacf0eb5a244ee"/>
    <p:sldId xmlns:r="http://schemas.openxmlformats.org/officeDocument/2006/relationships" id="259" r:id="Re74a7e27893e4fd1"/>
    <p:sldId xmlns:r="http://schemas.openxmlformats.org/officeDocument/2006/relationships" id="260" r:id="R23735d24fc5344cf"/>
    <p:sldId xmlns:r="http://schemas.openxmlformats.org/officeDocument/2006/relationships" id="261" r:id="Rdaaf0d445ea04584"/>
    <p:sldId xmlns:r="http://schemas.openxmlformats.org/officeDocument/2006/relationships" id="262" r:id="R9dc3085962b04926"/>
    <p:sldId xmlns:r="http://schemas.openxmlformats.org/officeDocument/2006/relationships" id="263" r:id="R99811816698c4d58"/>
    <p:sldId xmlns:r="http://schemas.openxmlformats.org/officeDocument/2006/relationships" id="264" r:id="Reee5763419184dac"/>
    <p:sldId xmlns:r="http://schemas.openxmlformats.org/officeDocument/2006/relationships" id="265" r:id="R4ed2ed2b797c43d6"/>
    <p:sldId xmlns:r="http://schemas.openxmlformats.org/officeDocument/2006/relationships" id="266" r:id="Ra2e3d37adb2149d8"/>
    <p:sldId xmlns:r="http://schemas.openxmlformats.org/officeDocument/2006/relationships" id="267" r:id="Rf6c86ba584e04bd7"/>
    <p:sldId xmlns:r="http://schemas.openxmlformats.org/officeDocument/2006/relationships" id="268" r:id="Red051bcae29d407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b2b41f87b0418e" /><Relationship Type="http://schemas.openxmlformats.org/officeDocument/2006/relationships/theme" Target="/ppt/theme/theme1.xml" Id="Rc7ec1ed0ca554a34" /><Relationship Type="http://schemas.openxmlformats.org/officeDocument/2006/relationships/notesMaster" Target="/ppt/notesMasters/notesMaster1.xml" Id="R3c727c8dac6646f3" /><Relationship Type="http://schemas.openxmlformats.org/officeDocument/2006/relationships/presProps" Target="/ppt/presProps.xml" Id="Rf007ba95f677433f" /><Relationship Type="http://schemas.openxmlformats.org/officeDocument/2006/relationships/viewProps" Target="/ppt/viewProps.xml" Id="R373fba94b23d4fc7" /><Relationship Type="http://schemas.openxmlformats.org/officeDocument/2006/relationships/tableStyles" Target="/ppt/tableStyles.xml" Id="Rcc1bfffb1b7a4462" /><Relationship Type="http://schemas.openxmlformats.org/officeDocument/2006/relationships/slide" Target="/ppt/slides/slide1.xml" Id="Rcac434aaf1364536" /><Relationship Type="http://schemas.openxmlformats.org/officeDocument/2006/relationships/slide" Target="/ppt/slides/slide2.xml" Id="R47e06c708b624fd6" /><Relationship Type="http://schemas.openxmlformats.org/officeDocument/2006/relationships/slide" Target="/ppt/slides/slide3.xml" Id="R6fdacf0eb5a244ee" /><Relationship Type="http://schemas.openxmlformats.org/officeDocument/2006/relationships/slide" Target="/ppt/slides/slide4.xml" Id="Re74a7e27893e4fd1" /><Relationship Type="http://schemas.openxmlformats.org/officeDocument/2006/relationships/slide" Target="/ppt/slides/slide5.xml" Id="R23735d24fc5344cf" /><Relationship Type="http://schemas.openxmlformats.org/officeDocument/2006/relationships/slide" Target="/ppt/slides/slide6.xml" Id="Rdaaf0d445ea04584" /><Relationship Type="http://schemas.openxmlformats.org/officeDocument/2006/relationships/slide" Target="/ppt/slides/slide7.xml" Id="R9dc3085962b04926" /><Relationship Type="http://schemas.openxmlformats.org/officeDocument/2006/relationships/slide" Target="/ppt/slides/slide8.xml" Id="R99811816698c4d58" /><Relationship Type="http://schemas.openxmlformats.org/officeDocument/2006/relationships/slide" Target="/ppt/slides/slide9.xml" Id="Reee5763419184dac" /><Relationship Type="http://schemas.openxmlformats.org/officeDocument/2006/relationships/slide" Target="/ppt/slides/slide10.xml" Id="R4ed2ed2b797c43d6" /><Relationship Type="http://schemas.openxmlformats.org/officeDocument/2006/relationships/slide" Target="/ppt/slides/slide11.xml" Id="Ra2e3d37adb2149d8" /><Relationship Type="http://schemas.openxmlformats.org/officeDocument/2006/relationships/slide" Target="/ppt/slides/slide12.xml" Id="Rf6c86ba584e04bd7" /><Relationship Type="http://schemas.openxmlformats.org/officeDocument/2006/relationships/slide" Target="/ppt/slides/slide13.xml" Id="Red051bcae29d40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7980f1846ef4b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5a7ac787c6496e" /><Relationship Type="http://schemas.openxmlformats.org/officeDocument/2006/relationships/notesMaster" Target="/ppt/notesMasters/notesMaster1.xml" Id="Re81570ead0b148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d7c31ecf164e2f" /><Relationship Type="http://schemas.openxmlformats.org/officeDocument/2006/relationships/notesMaster" Target="/ppt/notesMasters/notesMaster1.xml" Id="R3cac620945994a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68779f72254e90" /><Relationship Type="http://schemas.openxmlformats.org/officeDocument/2006/relationships/notesMaster" Target="/ppt/notesMasters/notesMaster1.xml" Id="R01b2858369f140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21cb1ced784856" /><Relationship Type="http://schemas.openxmlformats.org/officeDocument/2006/relationships/notesMaster" Target="/ppt/notesMasters/notesMaster1.xml" Id="R3114807535dd44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c049c1c2a3421a" /><Relationship Type="http://schemas.openxmlformats.org/officeDocument/2006/relationships/notesMaster" Target="/ppt/notesMasters/notesMaster1.xml" Id="R389b51de0edb4b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0d06aa2acb4f3e" /><Relationship Type="http://schemas.openxmlformats.org/officeDocument/2006/relationships/notesMaster" Target="/ppt/notesMasters/notesMaster1.xml" Id="R45c575e57ae24c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35b9f19a94458f" /><Relationship Type="http://schemas.openxmlformats.org/officeDocument/2006/relationships/notesMaster" Target="/ppt/notesMasters/notesMaster1.xml" Id="R51559afdd40844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50154f036f4dfc" /><Relationship Type="http://schemas.openxmlformats.org/officeDocument/2006/relationships/notesMaster" Target="/ppt/notesMasters/notesMaster1.xml" Id="Rbb305a04288e4b4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3afeaf43fc4eb9" /><Relationship Type="http://schemas.openxmlformats.org/officeDocument/2006/relationships/notesMaster" Target="/ppt/notesMasters/notesMaster1.xml" Id="Re9cf48389d134e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24cedf717d4e1f" /><Relationship Type="http://schemas.openxmlformats.org/officeDocument/2006/relationships/notesMaster" Target="/ppt/notesMasters/notesMaster1.xml" Id="R58fa2fc05de24d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bab7957384242c4" /><Relationship Type="http://schemas.openxmlformats.org/officeDocument/2006/relationships/notesMaster" Target="/ppt/notesMasters/notesMaster1.xml" Id="R433d1fc4c02641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be7998b0414476" /><Relationship Type="http://schemas.openxmlformats.org/officeDocument/2006/relationships/notesMaster" Target="/ppt/notesMasters/notesMaster1.xml" Id="R61c30357307543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ff5a0d58fb4801" /><Relationship Type="http://schemas.openxmlformats.org/officeDocument/2006/relationships/notesMaster" Target="/ppt/notesMasters/notesMaster1.xml" Id="Rabdb92cfc01d4b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d21ab05c4e4fa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32ede96c0b4422e" /><Relationship Type="http://schemas.openxmlformats.org/officeDocument/2006/relationships/slideLayout" Target="/ppt/slideLayouts/slideLayout2.xml" Id="R6752f870170d44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752f870170d44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13ec9a075a47ed" /><Relationship Type="http://schemas.openxmlformats.org/officeDocument/2006/relationships/notesSlide" Target="/ppt/notesSlides/notesSlide1.xml" Id="Ra8400d18486d4b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6de6cf1385442c" /><Relationship Type="http://schemas.openxmlformats.org/officeDocument/2006/relationships/notesSlide" Target="/ppt/notesSlides/notesSlide2.xml" Id="R8a6237d95a9941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9cdcb539914603" /><Relationship Type="http://schemas.openxmlformats.org/officeDocument/2006/relationships/notesSlide" Target="/ppt/notesSlides/notesSlide3.xml" Id="R1ce26fefa6a84d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88d96c283b4e29" /><Relationship Type="http://schemas.openxmlformats.org/officeDocument/2006/relationships/chart" Target="/ppt/slides/charts/chart1.xml" Id="R1bacb285c6684c06" /><Relationship Type="http://schemas.openxmlformats.org/officeDocument/2006/relationships/notesSlide" Target="/ppt/notesSlides/notesSlide4.xml" Id="R5d440f74127045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62d96d137745bc" /><Relationship Type="http://schemas.openxmlformats.org/officeDocument/2006/relationships/chart" Target="/ppt/slides/charts/chart2.xml" Id="Rb7e9d2b1f8124c6e" /><Relationship Type="http://schemas.openxmlformats.org/officeDocument/2006/relationships/notesSlide" Target="/ppt/notesSlides/notesSlide5.xml" Id="Rdfa402fa530e45c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bbcc3b89ae4b14" /><Relationship Type="http://schemas.openxmlformats.org/officeDocument/2006/relationships/chart" Target="/ppt/slides/charts/chart3.xml" Id="R1778435427c9474b" /><Relationship Type="http://schemas.openxmlformats.org/officeDocument/2006/relationships/notesSlide" Target="/ppt/notesSlides/notesSlide6.xml" Id="Rd53c7447efc34c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95fb6a924d4bd5" /><Relationship Type="http://schemas.openxmlformats.org/officeDocument/2006/relationships/notesSlide" Target="/ppt/notesSlides/notesSlide7.xml" Id="R25b76a004b1a48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66b7e8d96f4bc2" /><Relationship Type="http://schemas.openxmlformats.org/officeDocument/2006/relationships/chart" Target="/ppt/slides/charts/chart4.xml" Id="Re6c5d5f6f3c54c96" /><Relationship Type="http://schemas.openxmlformats.org/officeDocument/2006/relationships/notesSlide" Target="/ppt/notesSlides/notesSlide8.xml" Id="R0e9259446ad543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50f2e1223a43d0" /><Relationship Type="http://schemas.openxmlformats.org/officeDocument/2006/relationships/chart" Target="/ppt/slides/charts/chart5.xml" Id="R209caf00deff494d" /><Relationship Type="http://schemas.openxmlformats.org/officeDocument/2006/relationships/notesSlide" Target="/ppt/notesSlides/notesSlide9.xml" Id="R23cc7bf48b2442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a10416225448c9" /><Relationship Type="http://schemas.openxmlformats.org/officeDocument/2006/relationships/notesSlide" Target="/ppt/notesSlides/notesSlide10.xml" Id="R048be9a6fce34fe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31a71844b5464b" /><Relationship Type="http://schemas.openxmlformats.org/officeDocument/2006/relationships/notesSlide" Target="/ppt/notesSlides/notesSlide11.xml" Id="R9f4da7eaa2bd46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7bca169b4b4f86" /><Relationship Type="http://schemas.openxmlformats.org/officeDocument/2006/relationships/notesSlide" Target="/ppt/notesSlides/notesSlide12.xml" Id="Rd144bbbeae0e42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dbdda7d50c4435" /><Relationship Type="http://schemas.openxmlformats.org/officeDocument/2006/relationships/notesSlide" Target="/ppt/notesSlides/notesSlide13.xml" Id="R2ddf2aae140f41b2" /></Relationships>
</file>

<file path=ppt/slides/charts/chart1.xml><?xml version="1.0" encoding="utf-8"?>
<c:chartSpace xmlns:c="http://schemas.openxmlformats.org/drawingml/2006/chart">
  <c:lang val="en-US"/>
  <c:roundedCorners val="0"/>
  <c:chart>
    <c:spPr>
      <a:solidFill xmlns:a="http://schemas.openxmlformats.org/drawingml/2006/main">
        <a:srgbClr val="FFF8E8"/>
      </a:solidFill>
    </c:spPr>
    <c:plotArea>
      <c:layout/>
      <c:barChart>
        <c:barDir val="col"/>
        <c:grouping val="clustered"/>
        <c:varyColors val="0"/>
        <c:ser>
          <c:idx val="0"/>
          <c:order val="0"/>
          <c:tx>
            <c:v>section rows</c:v>
          </c:tx>
          <c:cat>
            <c:strLit>
              <c:ptCount val="8"/>
              <c:pt idx="0">
                <c:v>q_mda</c:v>
              </c:pt>
              <c:pt idx="1">
                <c:v>q_market</c:v>
              </c:pt>
              <c:pt idx="2">
                <c:v>q_legal</c:v>
              </c:pt>
              <c:pt idx="3">
                <c:v>q_risk</c:v>
              </c:pt>
              <c:pt idx="4">
                <c:v>mda</c:v>
              </c:pt>
              <c:pt idx="5">
                <c:v>risk</c:v>
              </c:pt>
              <c:pt idx="6">
                <c:v>business</c:v>
              </c:pt>
              <c:pt idx="7">
                <c:v>cyber</c:v>
              </c:pt>
            </c:strLit>
          </c:cat>
          <c:val>
            <c:numLit>
              <c:formatCode/>
              <c:ptCount val="8"/>
              <c:pt idx="0">
                <c:v>21399</c:v>
              </c:pt>
              <c:pt idx="1">
                <c:v>19532</c:v>
              </c:pt>
              <c:pt idx="2">
                <c:v>15773</c:v>
              </c:pt>
              <c:pt idx="3">
                <c:v>15180</c:v>
              </c:pt>
              <c:pt idx="4">
                <c:v>7387</c:v>
              </c:pt>
              <c:pt idx="5">
                <c:v>7302</c:v>
              </c:pt>
              <c:pt idx="6">
                <c:v>7232</c:v>
              </c:pt>
              <c:pt idx="7">
                <c:v>1470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8E8"/>
        </a:solidFill>
      </c:spPr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0"/>
  <c:chart>
    <c:spPr>
      <a:solidFill xmlns:a="http://schemas.openxmlformats.org/drawingml/2006/main">
        <a:srgbClr val="FFF8E8"/>
      </a:solidFill>
    </c:spPr>
    <c:plotArea>
      <c:layout/>
      <c:barChart>
        <c:barDir val="col"/>
        <c:grouping val="clustered"/>
        <c:varyColors val="0"/>
        <c:ser>
          <c:idx val="0"/>
          <c:order val="0"/>
          <c:tx>
            <c:v>NMI vs GICS</c:v>
          </c:tx>
          <c:cat>
            <c:strLit>
              <c:ptCount val="4"/>
              <c:pt idx="0">
                <c:v>Legacy text</c:v>
              </c:pt>
              <c:pt idx="1">
                <c:v>Risk / price</c:v>
              </c:pt>
              <c:pt idx="2">
                <c:v>Historical text</c:v>
              </c:pt>
              <c:pt idx="3">
                <c:v>Temporal text</c:v>
              </c:pt>
            </c:strLit>
          </c:cat>
          <c:val>
            <c:numLit>
              <c:formatCode/>
              <c:ptCount val="4"/>
              <c:pt idx="0">
                <c:v>0.381</c:v>
              </c:pt>
              <c:pt idx="1">
                <c:v>0.171</c:v>
              </c:pt>
              <c:pt idx="2">
                <c:v>0.433</c:v>
              </c:pt>
              <c:pt idx="3">
                <c:v>0.412</c:v>
              </c:pt>
            </c:numLit>
          </c:val>
        </c:ser>
        <c:ser>
          <c:idx val="1"/>
          <c:order val="1"/>
          <c:tx>
            <c:v>ARI vs GICS</c:v>
          </c:tx>
          <c:cat>
            <c:strLit>
              <c:ptCount val="4"/>
              <c:pt idx="0">
                <c:v>Legacy text</c:v>
              </c:pt>
              <c:pt idx="1">
                <c:v>Risk / price</c:v>
              </c:pt>
              <c:pt idx="2">
                <c:v>Historical text</c:v>
              </c:pt>
              <c:pt idx="3">
                <c:v>Temporal text</c:v>
              </c:pt>
            </c:strLit>
          </c:cat>
          <c:val>
            <c:numLit>
              <c:formatCode/>
              <c:ptCount val="4"/>
              <c:pt idx="0">
                <c:v>0.219</c:v>
              </c:pt>
              <c:pt idx="1">
                <c:v>0.052</c:v>
              </c:pt>
              <c:pt idx="2">
                <c:v>0.255</c:v>
              </c:pt>
              <c:pt idx="3">
                <c:v>0.269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8E8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/>
          </a:pPr>
        </a:p>
      </c:txPr>
    </c:legend>
    <c:plotVisOnly val="1"/>
  </c:chart>
</c:chartSpace>
</file>

<file path=ppt/slides/charts/chart3.xml><?xml version="1.0" encoding="utf-8"?>
<c:chartSpace xmlns:c="http://schemas.openxmlformats.org/drawingml/2006/chart">
  <c:lang val="en-US"/>
  <c:roundedCorners val="0"/>
  <c:chart>
    <c:spPr>
      <a:solidFill xmlns:a="http://schemas.openxmlformats.org/drawingml/2006/main">
        <a:srgbClr val="FFF8E8"/>
      </a:solidFill>
    </c:spPr>
    <c:plotArea>
      <c:layout/>
      <c:lineChart>
        <c:ser>
          <c:idx val="0"/>
          <c:order val="0"/>
          <c:tx>
            <c:v>Business AI score</c:v>
          </c:tx>
          <c:cat>
            <c:strLit>
              <c:ptCount val="4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2026*</c:v>
              </c:pt>
            </c:strLit>
          </c:cat>
          <c:val>
            <c:numLit>
              <c:formatCode/>
              <c:ptCount val="4"/>
              <c:pt idx="0">
                <c:v>3.389</c:v>
              </c:pt>
              <c:pt idx="1">
                <c:v>5.693</c:v>
              </c:pt>
              <c:pt idx="2">
                <c:v>6.909</c:v>
              </c:pt>
              <c:pt idx="3">
                <c:v>7.112</c:v>
              </c:pt>
            </c:numLit>
          </c:val>
          <c:smooth val="0"/>
        </c:ser>
        <c:ser>
          <c:idx val="1"/>
          <c:order val="1"/>
          <c:tx>
            <c:v>Risk-factor AI score</c:v>
          </c:tx>
          <c:cat>
            <c:strLit>
              <c:ptCount val="4"/>
              <c:pt idx="0">
                <c:v>2023</c:v>
              </c:pt>
              <c:pt idx="1">
                <c:v>2024</c:v>
              </c:pt>
              <c:pt idx="2">
                <c:v>2025</c:v>
              </c:pt>
              <c:pt idx="3">
                <c:v>2026*</c:v>
              </c:pt>
            </c:strLit>
          </c:cat>
          <c:val>
            <c:numLit>
              <c:formatCode/>
              <c:ptCount val="4"/>
              <c:pt idx="0">
                <c:v>1.576</c:v>
              </c:pt>
              <c:pt idx="1">
                <c:v>6.803</c:v>
              </c:pt>
              <c:pt idx="2">
                <c:v>9.988</c:v>
              </c:pt>
              <c:pt idx="3">
                <c:v>11.22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8E8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/>
          </a:pPr>
        </a:p>
      </c:txPr>
    </c:legend>
    <c:plotVisOnly val="1"/>
  </c:chart>
</c:chartSpace>
</file>

<file path=ppt/slides/charts/chart4.xml><?xml version="1.0" encoding="utf-8"?>
<c:chartSpace xmlns:c="http://schemas.openxmlformats.org/drawingml/2006/chart">
  <c:lang val="en-US"/>
  <c:roundedCorners val="0"/>
  <c:chart>
    <c:spPr>
      <a:solidFill xmlns:a="http://schemas.openxmlformats.org/drawingml/2006/main">
        <a:srgbClr val="FFF8E8"/>
      </a:solidFill>
    </c:spPr>
    <c:plotArea>
      <c:layout/>
      <c:lineChart>
        <c:ser>
          <c:idx val="0"/>
          <c:order val="0"/>
          <c:tx>
            <c:v>Business gap vs GICS</c:v>
          </c:tx>
          <c:cat>
            <c:strLit>
              <c:ptCount val="5"/>
              <c:pt idx="0">
                <c:v>21d</c:v>
              </c:pt>
              <c:pt idx="1">
                <c:v>63d</c:v>
              </c:pt>
              <c:pt idx="2">
                <c:v>126d</c:v>
              </c:pt>
              <c:pt idx="3">
                <c:v>252d</c:v>
              </c:pt>
              <c:pt idx="4">
                <c:v>504d</c:v>
              </c:pt>
            </c:strLit>
          </c:cat>
          <c:val>
            <c:numLit>
              <c:formatCode/>
              <c:ptCount val="5"/>
              <c:pt idx="0">
                <c:v>-0.272</c:v>
              </c:pt>
              <c:pt idx="1">
                <c:v>-0.201</c:v>
              </c:pt>
              <c:pt idx="2">
                <c:v>-0.197</c:v>
              </c:pt>
              <c:pt idx="3">
                <c:v>-0.189</c:v>
              </c:pt>
              <c:pt idx="4">
                <c:v>-0.177</c:v>
              </c:pt>
            </c:numLit>
          </c:val>
          <c:smooth val="0"/>
        </c:ser>
        <c:ser>
          <c:idx val="1"/>
          <c:order val="1"/>
          <c:tx>
            <c:v>Risk gap vs GICS</c:v>
          </c:tx>
          <c:cat>
            <c:strLit>
              <c:ptCount val="5"/>
              <c:pt idx="0">
                <c:v>21d</c:v>
              </c:pt>
              <c:pt idx="1">
                <c:v>63d</c:v>
              </c:pt>
              <c:pt idx="2">
                <c:v>126d</c:v>
              </c:pt>
              <c:pt idx="3">
                <c:v>252d</c:v>
              </c:pt>
              <c:pt idx="4">
                <c:v>504d</c:v>
              </c:pt>
            </c:strLit>
          </c:cat>
          <c:val>
            <c:numLit>
              <c:formatCode/>
              <c:ptCount val="5"/>
              <c:pt idx="0">
                <c:v>-0.1</c:v>
              </c:pt>
              <c:pt idx="1">
                <c:v>-0.072</c:v>
              </c:pt>
              <c:pt idx="2">
                <c:v>-0.071</c:v>
              </c:pt>
              <c:pt idx="3">
                <c:v>-0.072</c:v>
              </c:pt>
              <c:pt idx="4">
                <c:v>-0.079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8E8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/>
          </a:pPr>
        </a:p>
      </c:txPr>
    </c:legend>
    <c:plotVisOnly val="1"/>
  </c:chart>
</c:chartSpace>
</file>

<file path=ppt/slides/charts/chart5.xml><?xml version="1.0" encoding="utf-8"?>
<c:chartSpace xmlns:c="http://schemas.openxmlformats.org/drawingml/2006/chart">
  <c:lang val="en-US"/>
  <c:roundedCorners val="0"/>
  <c:chart>
    <c:spPr>
      <a:solidFill xmlns:a="http://schemas.openxmlformats.org/drawingml/2006/main">
        <a:srgbClr val="FFF8E8"/>
      </a:solidFill>
    </c:spPr>
    <c:plotArea>
      <c:layout/>
      <c:barChart>
        <c:barDir val="col"/>
        <c:grouping val="clustered"/>
        <c:varyColors val="0"/>
        <c:ser>
          <c:idx val="0"/>
          <c:order val="0"/>
          <c:tx>
            <c:v>Annual variance</c:v>
          </c:tx>
          <c:cat>
            <c:strLit>
              <c:ptCount val="4"/>
              <c:pt idx="0">
                <c:v>Sample</c:v>
              </c:pt>
              <c:pt idx="1">
                <c:v>Ledoit-Wolf</c:v>
              </c:pt>
              <c:pt idx="2">
                <c:v>Single-view</c:v>
              </c:pt>
              <c:pt idx="3">
                <c:v>Multi-view</c:v>
              </c:pt>
            </c:strLit>
          </c:cat>
          <c:val>
            <c:numLit>
              <c:formatCode/>
              <c:ptCount val="4"/>
              <c:pt idx="0">
                <c:v>0.00966</c:v>
              </c:pt>
              <c:pt idx="1">
                <c:v>0.00963</c:v>
              </c:pt>
              <c:pt idx="2">
                <c:v>0.01009</c:v>
              </c:pt>
              <c:pt idx="3">
                <c:v>0.01522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FFF8E8"/>
        </a:solidFill>
      </c:spPr>
    </c:plotArea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-background">
            <a:extLst xmlns:a="http://schemas.openxmlformats.org/drawingml/2006/main">
              <a:ext uri="{FF2B5EF4-FFF2-40B4-BE49-F238E27FC236}">
                <a16:creationId xmlns:a16="http://schemas.microsoft.com/office/drawing/2014/main" id="{0D803C3A-3D2B-4986-BF2F-2F044E82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15"/>
          </a:solidFill>
          <a:ln xmlns:a="http://schemas.openxmlformats.org/drawingml/2006/main" w="0">
            <a:solidFill>
              <a:srgbClr val="101715"/>
            </a:solidFill>
            <a:prstDash val="solid"/>
          </a:ln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B519FCC-0937-4F5C-8FE8-7FC670F21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80581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FFF8E8"/>
                </a:solidFill>
              </a:defRPr>
            </a:pPr>
            <a:r>
              <a:rPr sz="7050" b="1">
                <a:solidFill>
                  <a:srgbClr val="FFF8E8"/>
                </a:solidFill>
              </a:rPr>
              <a:t>Stock Embeddings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2F71EC9-A11D-48EB-9C12-F6A29059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7143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D8E1C5"/>
                </a:solidFill>
              </a:defRPr>
            </a:pPr>
            <a:r>
              <a:rPr sz="2325">
                <a:solidFill>
                  <a:srgbClr val="D8E1C5"/>
                </a:solidFill>
              </a:rPr>
              <a:t>A decomposed similarity system for public companies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CF551-C342-4775-86F8-E33DE1EB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304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E8A6"/>
          </a:solidFill>
          <a:ln xmlns:a="http://schemas.openxmlformats.org/drawingml/2006/main" w="0">
            <a:solidFill>
              <a:srgbClr val="BEE8A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9CC9C-0B74-452D-8E8D-90613172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86296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2F1E7"/>
                </a:solidFill>
              </a:defRPr>
            </a:pPr>
            <a:r>
              <a:rPr sz="2025">
                <a:solidFill>
                  <a:srgbClr val="F2F1E7"/>
                </a:solidFill>
              </a:rPr>
              <a:t>What we have so far: SEC filing embeddings, price behavior, fundamentals, graph relationships, evaluations, and an exploratory dashboard.</a:t>
            </a:r>
          </a:p>
        </p:txBody>
      </p:sp>
      <p:sp>
        <p:nvSpPr>
          <p:cNvPr id="6" name="metric-tickers-in-t">
            <a:extLst xmlns:a="http://schemas.openxmlformats.org/drawingml/2006/main">
              <a:ext uri="{FF2B5EF4-FFF2-40B4-BE49-F238E27FC236}">
                <a16:creationId xmlns:a16="http://schemas.microsoft.com/office/drawing/2014/main" id="{510725C4-282C-4B01-BA85-2113932A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1838325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6221D"/>
          </a:solidFill>
          <a:ln xmlns:a="http://schemas.openxmlformats.org/drawingml/2006/main" w="9525">
            <a:solidFill>
              <a:srgbClr val="D2C4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C13DD-2501-4DA4-9074-7C5106C0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1981200"/>
            <a:ext cx="4533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EE8A6"/>
                </a:solidFill>
              </a:defRPr>
            </a:pPr>
            <a:r>
              <a:rPr sz="3300" b="1">
                <a:solidFill>
                  <a:srgbClr val="BEE8A6"/>
                </a:solidFill>
              </a:rPr>
              <a:t>502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E5747-C9E9-46BD-9845-E900ED5E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2438400"/>
            <a:ext cx="453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E1C5"/>
                </a:solidFill>
              </a:defRPr>
            </a:pPr>
            <a:r>
              <a:rPr sz="1275">
                <a:solidFill>
                  <a:srgbClr val="D8E1C5"/>
                </a:solidFill>
              </a:rPr>
              <a:t>tickers in the panel</a:t>
            </a:r>
          </a:p>
        </p:txBody>
      </p:sp>
      <p:sp>
        <p:nvSpPr>
          <p:cNvPr id="9" name="metric-monthly-firm">
            <a:extLst xmlns:a="http://schemas.openxmlformats.org/drawingml/2006/main">
              <a:ext uri="{FF2B5EF4-FFF2-40B4-BE49-F238E27FC236}">
                <a16:creationId xmlns:a16="http://schemas.microsoft.com/office/drawing/2014/main" id="{C7D134A5-2831-4C98-8E52-A5A30CD8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438525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6221D"/>
          </a:solidFill>
          <a:ln xmlns:a="http://schemas.openxmlformats.org/drawingml/2006/main" w="9525">
            <a:solidFill>
              <a:srgbClr val="D2C4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AC27D-B30F-42BA-A599-15F9CC87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3581400"/>
            <a:ext cx="4533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EE8A6"/>
                </a:solidFill>
              </a:defRPr>
            </a:pPr>
            <a:r>
              <a:rPr sz="3300" b="1">
                <a:solidFill>
                  <a:srgbClr val="BEE8A6"/>
                </a:solidFill>
              </a:rPr>
              <a:t>87k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D3DD22-726D-4D01-A62E-86044461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4038600"/>
            <a:ext cx="453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E1C5"/>
                </a:solidFill>
              </a:defRPr>
            </a:pPr>
            <a:r>
              <a:rPr sz="1275">
                <a:solidFill>
                  <a:srgbClr val="D8E1C5"/>
                </a:solidFill>
              </a:rPr>
              <a:t>monthly firm observations</a:t>
            </a:r>
          </a:p>
        </p:txBody>
      </p:sp>
      <p:sp>
        <p:nvSpPr>
          <p:cNvPr id="12" name="metric-similarity-v">
            <a:extLst xmlns:a="http://schemas.openxmlformats.org/drawingml/2006/main">
              <a:ext uri="{FF2B5EF4-FFF2-40B4-BE49-F238E27FC236}">
                <a16:creationId xmlns:a16="http://schemas.microsoft.com/office/drawing/2014/main" id="{4A5E2955-8037-4813-A78F-E36D53D1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5038725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6221D"/>
          </a:solidFill>
          <a:ln xmlns:a="http://schemas.openxmlformats.org/drawingml/2006/main" w="9525">
            <a:solidFill>
              <a:srgbClr val="D2C4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0510D-C4DF-4E06-8682-99A67664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181600"/>
            <a:ext cx="4533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EE8A6"/>
                </a:solidFill>
              </a:defRPr>
            </a:pPr>
            <a:r>
              <a:rPr sz="3300" b="1">
                <a:solidFill>
                  <a:srgbClr val="BEE8A6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AE30E6-5E1E-4B8D-816B-EAC7E1E4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5638800"/>
            <a:ext cx="453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E1C5"/>
                </a:solidFill>
              </a:defRPr>
            </a:pPr>
            <a:r>
              <a:rPr sz="1275">
                <a:solidFill>
                  <a:srgbClr val="D8E1C5"/>
                </a:solidFill>
              </a:rPr>
              <a:t>similarity views</a:t>
            </a:r>
          </a:p>
        </p:txBody>
      </p:sp>
      <p:sp>
        <p:nvSpPr>
          <p:cNvPr id="15" name="metric-unit-tests-p">
            <a:extLst xmlns:a="http://schemas.openxmlformats.org/drawingml/2006/main">
              <a:ext uri="{FF2B5EF4-FFF2-40B4-BE49-F238E27FC236}">
                <a16:creationId xmlns:a16="http://schemas.microsoft.com/office/drawing/2014/main" id="{09E70D45-3D1C-4244-BCBF-43727265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6638925"/>
            <a:ext cx="4953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6221D"/>
          </a:solidFill>
          <a:ln xmlns:a="http://schemas.openxmlformats.org/drawingml/2006/main" w="9525">
            <a:solidFill>
              <a:srgbClr val="D2C4A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169C25-DC95-43CD-950C-0D65B89D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6781800"/>
            <a:ext cx="4533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BEE8A6"/>
                </a:solidFill>
              </a:defRPr>
            </a:pPr>
            <a:r>
              <a:rPr sz="3300" b="1">
                <a:solidFill>
                  <a:srgbClr val="BEE8A6"/>
                </a:solidFill>
              </a:rPr>
              <a:t>61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C5D03D-4B7C-4D74-8237-188C2CD6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7239000"/>
            <a:ext cx="4533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E1C5"/>
                </a:solidFill>
              </a:defRPr>
            </a:pPr>
            <a:r>
              <a:rPr sz="1275">
                <a:solidFill>
                  <a:srgbClr val="D8E1C5"/>
                </a:solidFill>
              </a:rPr>
              <a:t>unit tests passing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1F9F398-338E-43B3-9A28-F5696EB5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77400"/>
            <a:ext cx="13582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5"/>
          </a:solidFill>
          <a:ln xmlns:a="http://schemas.openxmlformats.org/drawingml/2006/main" w="0">
            <a:solidFill>
              <a:srgbClr val="D2C4A5"/>
            </a:solidFill>
            <a:prstDash val="solid"/>
          </a:ln>
        </p:spPr>
      </p:sp>
      <p:sp>
        <p:nvSpPr>
          <p:cNvPr id="19" name="source-rail">
            <a:extLst xmlns:a="http://schemas.openxmlformats.org/drawingml/2006/main">
              <a:ext uri="{FF2B5EF4-FFF2-40B4-BE49-F238E27FC236}">
                <a16:creationId xmlns:a16="http://schemas.microsoft.com/office/drawing/2014/main" id="{78FAA481-EE72-486A-B50A-EA4E486F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9620250"/>
            <a:ext cx="29718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927F"/>
                </a:solidFill>
              </a:defRPr>
            </a:pPr>
            <a:r>
              <a:rPr sz="975">
                <a:solidFill>
                  <a:srgbClr val="8C927F"/>
                </a:solidFill>
              </a:rPr>
              <a:t>Project artifacts through 2026-04-27; branch: explore.</a:t>
            </a:r>
          </a:p>
        </p:txBody>
      </p:sp>
    </p:spTree>
    <p:extLst>
      <p:ext uri="{BB962C8B-B14F-4D97-AF65-F5344CB8AC3E}">
        <p14:creationId xmlns:p14="http://schemas.microsoft.com/office/powerpoint/2010/main" val="8095216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2-background">
            <a:extLst xmlns:a="http://schemas.openxmlformats.org/drawingml/2006/main">
              <a:ext uri="{FF2B5EF4-FFF2-40B4-BE49-F238E27FC236}">
                <a16:creationId xmlns:a16="http://schemas.microsoft.com/office/drawing/2014/main" id="{80A3434A-D86A-43F9-AE90-4090DD76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D9"/>
          </a:solidFill>
          <a:ln xmlns:a="http://schemas.openxmlformats.org/drawingml/2006/main" w="0">
            <a:solidFill>
              <a:srgbClr val="F4ECD9"/>
            </a:solidFill>
            <a:prstDash val="solid"/>
          </a:ln>
        </p:spPr>
      </p:sp>
      <p:sp>
        <p:nvSpPr>
          <p:cNvPr id="2" name="slide-2-eyebrow">
            <a:extLst xmlns:a="http://schemas.openxmlformats.org/drawingml/2006/main">
              <a:ext uri="{FF2B5EF4-FFF2-40B4-BE49-F238E27FC236}">
                <a16:creationId xmlns:a16="http://schemas.microsoft.com/office/drawing/2014/main" id="{69410081-607D-497A-A5C2-6B429169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6858"/>
                </a:solidFill>
              </a:defRPr>
            </a:pPr>
            <a:r>
              <a:rPr sz="1650" b="1">
                <a:solidFill>
                  <a:srgbClr val="2F6858"/>
                </a:solidFill>
              </a:rPr>
              <a:t>THESIS</a:t>
            </a:r>
          </a:p>
        </p:txBody>
      </p:sp>
      <p:sp>
        <p:nvSpPr>
          <p:cNvPr id="3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8DA9FF57-E950-4F2B-9B38-C897BF3C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2573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201B"/>
                </a:solidFill>
              </a:defRPr>
            </a:pPr>
            <a:r>
              <a:rPr sz="4650" b="1">
                <a:solidFill>
                  <a:srgbClr val="17201B"/>
                </a:solidFill>
              </a:rPr>
              <a:t>Company similarity is not one object</a:t>
            </a:r>
          </a:p>
        </p:txBody>
      </p:sp>
      <p:sp>
        <p:nvSpPr>
          <p:cNvPr id="4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A8BD3CDA-A09E-4378-92B5-9F095EFB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12573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67166"/>
                </a:solidFill>
              </a:defRPr>
            </a:pPr>
            <a:r>
              <a:rPr sz="1875">
                <a:solidFill>
                  <a:srgbClr val="667166"/>
                </a:solidFill>
              </a:rPr>
              <a:t>The project now separates business language, trading behavior, lifecycle fundamentals, and relationship networks so each can be tested on the task it should actually explain.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32ED2-B7F5-4B07-9834-EB7F6EBD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8191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858"/>
          </a:solidFill>
          <a:ln xmlns:a="http://schemas.openxmlformats.org/drawingml/2006/main" w="0">
            <a:solidFill>
              <a:srgbClr val="2F685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6437E-20DA-40FA-A810-E0499EAC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647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8E8"/>
                </a:solidFill>
              </a:defRPr>
            </a:pPr>
            <a:r>
              <a:rPr sz="1350" b="1">
                <a:solidFill>
                  <a:srgbClr val="FFF8E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DBCDFF-480D-402C-8B14-E3B3BD0B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457450"/>
            <a:ext cx="10210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1B"/>
                </a:solidFill>
              </a:defRPr>
            </a:pPr>
            <a:r>
              <a:rPr sz="1800">
                <a:solidFill>
                  <a:srgbClr val="17201B"/>
                </a:solidFill>
              </a:rPr>
              <a:t>Business view: historical MiniLM filing-section embeddings capture what firms say they do.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418B83-C83E-40F3-91F2-4DF1AA5E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8191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6F9D"/>
          </a:solidFill>
          <a:ln xmlns:a="http://schemas.openxmlformats.org/drawingml/2006/main" w="0">
            <a:solidFill>
              <a:srgbClr val="346F9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5EDBC-E57D-4F93-8C1D-7F135D1A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647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8E8"/>
                </a:solidFill>
              </a:defRPr>
            </a:pPr>
            <a:r>
              <a:rPr sz="1350" b="1">
                <a:solidFill>
                  <a:srgbClr val="FFF8E8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A491B-C730-4296-86D8-1912DD2E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19450"/>
            <a:ext cx="10210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1B"/>
                </a:solidFill>
              </a:defRPr>
            </a:pPr>
            <a:r>
              <a:rPr sz="1800">
                <a:solidFill>
                  <a:srgbClr val="17201B"/>
                </a:solidFill>
              </a:rPr>
              <a:t>Behavioral view: price-derived features capture how stocks move and trade.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1A9251-9BFF-42D6-A7BD-49B00A20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8191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A93E"/>
          </a:solidFill>
          <a:ln xmlns:a="http://schemas.openxmlformats.org/drawingml/2006/main" w="0">
            <a:solidFill>
              <a:srgbClr val="E1A9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41D0D-92A6-43A5-9E51-5B987D43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647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8E8"/>
                </a:solidFill>
              </a:defRPr>
            </a:pPr>
            <a:r>
              <a:rPr sz="1350" b="1">
                <a:solidFill>
                  <a:srgbClr val="FFF8E8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0C8386-422F-4BEF-94F7-B9FCD977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981450"/>
            <a:ext cx="10210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1B"/>
                </a:solidFill>
              </a:defRPr>
            </a:pPr>
            <a:r>
              <a:rPr sz="1800">
                <a:solidFill>
                  <a:srgbClr val="17201B"/>
                </a:solidFill>
              </a:rPr>
              <a:t>Growth view: XBRL fundamentals and valuation ratios capture lifecycle and maturity.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02CD8-EB3B-46A4-8655-50BDF07B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8191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653D"/>
          </a:solidFill>
          <a:ln xmlns:a="http://schemas.openxmlformats.org/drawingml/2006/main" w="0">
            <a:solidFill>
              <a:srgbClr val="C765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434987-3617-4831-9E1B-613A4B76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647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8E8"/>
                </a:solidFill>
              </a:defRPr>
            </a:pPr>
            <a:r>
              <a:rPr sz="1350" b="1">
                <a:solidFill>
                  <a:srgbClr val="FFF8E8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70902F-B554-40E9-98B7-5F7D0892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629150"/>
            <a:ext cx="10210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1B"/>
                </a:solidFill>
              </a:defRPr>
            </a:pPr>
            <a:r>
              <a:rPr sz="1800">
                <a:solidFill>
                  <a:srgbClr val="17201B"/>
                </a:solidFill>
              </a:rPr>
              <a:t>Network view: disclosed relationships capture who firms compete with, buy from, sell to, or partner with.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1D67E-88AC-4777-A7AE-8A37A43C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286000"/>
            <a:ext cx="5334000" cy="7058025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2C4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DF6406-94DC-4D19-B8B1-54F35FD4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248150"/>
            <a:ext cx="4762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653D"/>
                </a:solidFill>
              </a:defRPr>
            </a:pPr>
            <a:r>
              <a:rPr sz="1650" b="1">
                <a:solidFill>
                  <a:srgbClr val="C7653D"/>
                </a:solidFill>
              </a:rPr>
              <a:t>Current read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0661A0-5215-4AB2-B170-4BCB0135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4667250"/>
            <a:ext cx="4762500" cy="182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201B"/>
                </a:solidFill>
              </a:defRPr>
            </a:pPr>
            <a:r>
              <a:rPr sz="3600" b="1">
                <a:solidFill>
                  <a:srgbClr val="17201B"/>
                </a:solidFill>
              </a:rPr>
              <a:t>Text finds economic meaning; GICS still wins short-horizon co-movement.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79EAF-4B0A-462C-AE93-F80CA171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67056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1B"/>
                </a:solidFill>
              </a:defRPr>
            </a:pPr>
            <a:r>
              <a:rPr sz="1800">
                <a:solidFill>
                  <a:srgbClr val="17201B"/>
                </a:solidFill>
              </a:rPr>
              <a:t>That split is the project’s useful insight: semantic similarity and risk similarity overlap, but they are not substitutes.</a:t>
            </a:r>
          </a:p>
        </p:txBody>
      </p:sp>
      <p:sp>
        <p:nvSpPr>
          <p:cNvPr id="21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6E9BA23-DF3C-43F8-9516-B03AEDEC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774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5"/>
          </a:solidFill>
          <a:ln xmlns:a="http://schemas.openxmlformats.org/drawingml/2006/main" w="0">
            <a:solidFill>
              <a:srgbClr val="D2C4A5"/>
            </a:solidFill>
            <a:prstDash val="solid"/>
          </a:ln>
        </p:spPr>
      </p:sp>
      <p:sp>
        <p:nvSpPr>
          <p:cNvPr id="22" name="source-rail">
            <a:extLst xmlns:a="http://schemas.openxmlformats.org/drawingml/2006/main">
              <a:ext uri="{FF2B5EF4-FFF2-40B4-BE49-F238E27FC236}">
                <a16:creationId xmlns:a16="http://schemas.microsoft.com/office/drawing/2014/main" id="{530D86DE-C793-45AC-A92A-FD4C322D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9620250"/>
            <a:ext cx="55054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927F"/>
                </a:solidFill>
              </a:defRPr>
            </a:pPr>
            <a:r>
              <a:rPr sz="975">
                <a:solidFill>
                  <a:srgbClr val="8C927F"/>
                </a:solidFill>
              </a:rPr>
              <a:t>Sources: report/current_implementation_and_results.md; report/decomposed_similarity_results.md.</a:t>
            </a:r>
          </a:p>
        </p:txBody>
      </p:sp>
    </p:spTree>
    <p:extLst>
      <p:ext uri="{BB962C8B-B14F-4D97-AF65-F5344CB8AC3E}">
        <p14:creationId xmlns:p14="http://schemas.microsoft.com/office/powerpoint/2010/main" val="36398456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3-background">
            <a:extLst xmlns:a="http://schemas.openxmlformats.org/drawingml/2006/main">
              <a:ext uri="{FF2B5EF4-FFF2-40B4-BE49-F238E27FC236}">
                <a16:creationId xmlns:a16="http://schemas.microsoft.com/office/drawing/2014/main" id="{E89864ED-E344-4C25-972E-5EE568A5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D9"/>
          </a:solidFill>
          <a:ln xmlns:a="http://schemas.openxmlformats.org/drawingml/2006/main" w="0">
            <a:solidFill>
              <a:srgbClr val="F4ECD9"/>
            </a:solidFill>
            <a:prstDash val="solid"/>
          </a:ln>
        </p:spPr>
      </p:sp>
      <p:sp>
        <p:nvSpPr>
          <p:cNvPr id="2" name="slide-3-eyebrow">
            <a:extLst xmlns:a="http://schemas.openxmlformats.org/drawingml/2006/main">
              <a:ext uri="{FF2B5EF4-FFF2-40B4-BE49-F238E27FC236}">
                <a16:creationId xmlns:a16="http://schemas.microsoft.com/office/drawing/2014/main" id="{1D1CDF44-6378-4594-B483-413C32FB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6858"/>
                </a:solidFill>
              </a:defRPr>
            </a:pPr>
            <a:r>
              <a:rPr sz="1650" b="1">
                <a:solidFill>
                  <a:srgbClr val="2F6858"/>
                </a:solidFill>
              </a:rPr>
              <a:t>PIPELINE</a:t>
            </a:r>
          </a:p>
        </p:txBody>
      </p:sp>
      <p:sp>
        <p:nvSpPr>
          <p:cNvPr id="3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A7DE1CAF-7F8A-43E8-9F41-DDA788E0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25730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201B"/>
                </a:solidFill>
              </a:defRPr>
            </a:pPr>
            <a:r>
              <a:rPr sz="4650" b="1">
                <a:solidFill>
                  <a:srgbClr val="17201B"/>
                </a:solidFill>
              </a:rPr>
              <a:t>The codebase now follows the ETL shape the project spec wanted</a:t>
            </a:r>
          </a:p>
        </p:txBody>
      </p:sp>
      <p:sp>
        <p:nvSpPr>
          <p:cNvPr id="4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3FF81B2A-3E48-4CBB-B52C-7D534CBC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2573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67166"/>
                </a:solidFill>
              </a:defRPr>
            </a:pPr>
            <a:r>
              <a:rPr sz="1875">
                <a:solidFill>
                  <a:srgbClr val="667166"/>
                </a:solidFill>
              </a:rPr>
              <a:t>Raw SEC and price data flow into stable artifacts, then feature producers, assembly, models, evaluators, reports, and dashboard views.</a:t>
            </a:r>
          </a:p>
        </p:txBody>
      </p:sp>
      <p:sp>
        <p:nvSpPr>
          <p:cNvPr id="5" name="metric-ingest-SEC-">
            <a:extLst xmlns:a="http://schemas.openxmlformats.org/drawingml/2006/main">
              <a:ext uri="{FF2B5EF4-FFF2-40B4-BE49-F238E27FC236}">
                <a16:creationId xmlns:a16="http://schemas.microsoft.com/office/drawing/2014/main" id="{7E5259A2-ECF8-406C-97BB-9C37178B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2C4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66B6F-393F-492C-9ECA-139E49ED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2819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F6858"/>
                </a:solidFill>
              </a:defRPr>
            </a:pPr>
            <a:r>
              <a:rPr sz="3300" b="1">
                <a:solidFill>
                  <a:srgbClr val="2F6858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BA8994-492F-41D5-81BD-8467269F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2819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1B"/>
                </a:solidFill>
              </a:defRPr>
            </a:pPr>
            <a:r>
              <a:rPr sz="1275">
                <a:solidFill>
                  <a:srgbClr val="17201B"/>
                </a:solidFill>
              </a:rPr>
              <a:t>ingest: SEC DB + prices</a:t>
            </a:r>
          </a:p>
        </p:txBody>
      </p:sp>
      <p:sp>
        <p:nvSpPr>
          <p:cNvPr id="8" name="metric-features-pa">
            <a:extLst xmlns:a="http://schemas.openxmlformats.org/drawingml/2006/main">
              <a:ext uri="{FF2B5EF4-FFF2-40B4-BE49-F238E27FC236}">
                <a16:creationId xmlns:a16="http://schemas.microsoft.com/office/drawing/2014/main" id="{16EC8F72-B8AB-424B-9426-0FB728D1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8765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2C4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E73EF-5F4F-48B9-A8CB-C5D8008E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09900"/>
            <a:ext cx="2819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46F9D"/>
                </a:solidFill>
              </a:defRPr>
            </a:pPr>
            <a:r>
              <a:rPr sz="3300" b="1">
                <a:solidFill>
                  <a:srgbClr val="346F9D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42628-9578-43B4-8336-F6C3B4FC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67100"/>
            <a:ext cx="2819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1B"/>
                </a:solidFill>
              </a:defRPr>
            </a:pPr>
            <a:r>
              <a:rPr sz="1275">
                <a:solidFill>
                  <a:srgbClr val="17201B"/>
                </a:solidFill>
              </a:rPr>
              <a:t>features: parquet groups</a:t>
            </a:r>
          </a:p>
        </p:txBody>
      </p:sp>
      <p:sp>
        <p:nvSpPr>
          <p:cNvPr id="11" name="metric-assembly-mo">
            <a:extLst xmlns:a="http://schemas.openxmlformats.org/drawingml/2006/main">
              <a:ext uri="{FF2B5EF4-FFF2-40B4-BE49-F238E27FC236}">
                <a16:creationId xmlns:a16="http://schemas.microsoft.com/office/drawing/2014/main" id="{BCFD35F4-8445-44FA-8AC8-016FCB50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765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2C4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19274-CB98-41FB-875A-2C49C1F9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09900"/>
            <a:ext cx="2819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1A93E"/>
                </a:solidFill>
              </a:defRPr>
            </a:pPr>
            <a:r>
              <a:rPr sz="3300" b="1">
                <a:solidFill>
                  <a:srgbClr val="E1A93E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8B0F3-CBE5-478F-A199-A46107AC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67100"/>
            <a:ext cx="2819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1B"/>
                </a:solidFill>
              </a:defRPr>
            </a:pPr>
            <a:r>
              <a:rPr sz="1275">
                <a:solidFill>
                  <a:srgbClr val="17201B"/>
                </a:solidFill>
              </a:rPr>
              <a:t>assembly: monthly PIT panel</a:t>
            </a:r>
          </a:p>
        </p:txBody>
      </p:sp>
      <p:sp>
        <p:nvSpPr>
          <p:cNvPr id="14" name="metric-model-PyTor">
            <a:extLst xmlns:a="http://schemas.openxmlformats.org/drawingml/2006/main">
              <a:ext uri="{FF2B5EF4-FFF2-40B4-BE49-F238E27FC236}">
                <a16:creationId xmlns:a16="http://schemas.microsoft.com/office/drawing/2014/main" id="{D245ECAE-3E05-4438-9BE4-FAFE68B43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8765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2C4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C42E15-6E4D-467C-9309-942F7F45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009900"/>
            <a:ext cx="2819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C7653D"/>
                </a:solidFill>
              </a:defRPr>
            </a:pPr>
            <a:r>
              <a:rPr sz="3300" b="1">
                <a:solidFill>
                  <a:srgbClr val="C7653D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816D9-A0D2-417B-A58F-EA44819F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3467100"/>
            <a:ext cx="2819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1B"/>
                </a:solidFill>
              </a:defRPr>
            </a:pPr>
            <a:r>
              <a:rPr sz="1275">
                <a:solidFill>
                  <a:srgbClr val="17201B"/>
                </a:solidFill>
              </a:rPr>
              <a:t>model: PyTorch embeddings</a:t>
            </a:r>
          </a:p>
        </p:txBody>
      </p:sp>
      <p:sp>
        <p:nvSpPr>
          <p:cNvPr id="17" name="metric-evaluation-">
            <a:extLst xmlns:a="http://schemas.openxmlformats.org/drawingml/2006/main">
              <a:ext uri="{FF2B5EF4-FFF2-40B4-BE49-F238E27FC236}">
                <a16:creationId xmlns:a16="http://schemas.microsoft.com/office/drawing/2014/main" id="{9AC581AD-39CB-4132-ACDD-2ED1C8F0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0" y="28765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2C4A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B192F-3867-49A2-8DF2-EC410A5B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3009900"/>
            <a:ext cx="2819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5B4B6F"/>
                </a:solidFill>
              </a:defRPr>
            </a:pPr>
            <a:r>
              <a:rPr sz="3300" b="1">
                <a:solidFill>
                  <a:srgbClr val="5B4B6F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663EC-2ECF-4754-A08A-67C40A49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3467100"/>
            <a:ext cx="2819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1B"/>
                </a:solidFill>
              </a:defRPr>
            </a:pPr>
            <a:r>
              <a:rPr sz="1275">
                <a:solidFill>
                  <a:srgbClr val="17201B"/>
                </a:solidFill>
              </a:rPr>
              <a:t>evaluation + dashboard</a:t>
            </a:r>
          </a:p>
        </p:txBody>
      </p:sp>
      <p:sp>
        <p:nvSpPr>
          <p:cNvPr id="20" name="callout-mark-Feature">
            <a:extLst xmlns:a="http://schemas.openxmlformats.org/drawingml/2006/main">
              <a:ext uri="{FF2B5EF4-FFF2-40B4-BE49-F238E27FC236}">
                <a16:creationId xmlns:a16="http://schemas.microsoft.com/office/drawing/2014/main" id="{E79B6BBA-494A-41C6-9255-E605B75D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008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858"/>
          </a:solidFill>
          <a:ln xmlns:a="http://schemas.openxmlformats.org/drawingml/2006/main" w="0">
            <a:solidFill>
              <a:srgbClr val="2F685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F85C9E-2CD2-4633-84FB-9DA31AC84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19850"/>
            <a:ext cx="2971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Feature producers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22BEA8-DF45-45F7-A40A-75082A44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2971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price, event counts, historical text, fundamentals, valuation, network position</a:t>
            </a:r>
          </a:p>
        </p:txBody>
      </p:sp>
      <p:sp>
        <p:nvSpPr>
          <p:cNvPr id="23" name="callout-mark-Model re">
            <a:extLst xmlns:a="http://schemas.openxmlformats.org/drawingml/2006/main">
              <a:ext uri="{FF2B5EF4-FFF2-40B4-BE49-F238E27FC236}">
                <a16:creationId xmlns:a16="http://schemas.microsoft.com/office/drawing/2014/main" id="{3792B69E-0983-4EBA-B23F-24D26D6F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008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F9D"/>
          </a:solidFill>
          <a:ln xmlns:a="http://schemas.openxmlformats.org/drawingml/2006/main" w="0">
            <a:solidFill>
              <a:srgbClr val="346F9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74D557-6718-435A-BEF7-7CEB6C6F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419850"/>
            <a:ext cx="2971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Model registry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3E538A-244A-41C1-BDFC-B1B0D3A7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6724650"/>
            <a:ext cx="2971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autoencoder, temporal autoencoder, PCA; legacy NumPy retained only for comparison</a:t>
            </a:r>
          </a:p>
        </p:txBody>
      </p:sp>
      <p:sp>
        <p:nvSpPr>
          <p:cNvPr id="26" name="callout-mark-Evaluati">
            <a:extLst xmlns:a="http://schemas.openxmlformats.org/drawingml/2006/main">
              <a:ext uri="{FF2B5EF4-FFF2-40B4-BE49-F238E27FC236}">
                <a16:creationId xmlns:a16="http://schemas.microsoft.com/office/drawing/2014/main" id="{DF426249-BBA6-4640-BB67-A8807B5D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4008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93E"/>
          </a:solidFill>
          <a:ln xmlns:a="http://schemas.openxmlformats.org/drawingml/2006/main" w="0">
            <a:solidFill>
              <a:srgbClr val="E1A93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F5E214-AA96-4936-AF44-AD001EBD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419850"/>
            <a:ext cx="2971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Evaluation registry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90E296-BE5C-495D-B069-EA7EC8D7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6724650"/>
            <a:ext cx="2971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clustering, peers, covariance, relationships, multi-view covariance, view comparison</a:t>
            </a:r>
          </a:p>
        </p:txBody>
      </p:sp>
      <p:sp>
        <p:nvSpPr>
          <p:cNvPr id="29" name="callout-mark-Script l">
            <a:extLst xmlns:a="http://schemas.openxmlformats.org/drawingml/2006/main">
              <a:ext uri="{FF2B5EF4-FFF2-40B4-BE49-F238E27FC236}">
                <a16:creationId xmlns:a16="http://schemas.microsoft.com/office/drawing/2014/main" id="{275C5A6A-3A45-46AF-8E1D-F53E925D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008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53D"/>
          </a:solidFill>
          <a:ln xmlns:a="http://schemas.openxmlformats.org/drawingml/2006/main" w="0">
            <a:solidFill>
              <a:srgbClr val="C7653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D59650-2357-4C80-B523-6B6D089F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2971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Script layout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6FB4A8-4613-4713-837D-D54F99CB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724650"/>
            <a:ext cx="29718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pipeline stages, historical_text, decomposed, analysis, audit, temporal_validation</a:t>
            </a:r>
          </a:p>
        </p:txBody>
      </p:sp>
      <p:sp>
        <p:nvSpPr>
          <p:cNvPr id="32" name="callout-mark-Reproduc">
            <a:extLst xmlns:a="http://schemas.openxmlformats.org/drawingml/2006/main">
              <a:ext uri="{FF2B5EF4-FFF2-40B4-BE49-F238E27FC236}">
                <a16:creationId xmlns:a16="http://schemas.microsoft.com/office/drawing/2014/main" id="{952A65A1-7603-41FF-8272-D7A1552A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64008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B6F"/>
          </a:solidFill>
          <a:ln xmlns:a="http://schemas.openxmlformats.org/drawingml/2006/main" w="0">
            <a:solidFill>
              <a:srgbClr val="5B4B6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DB947D-3745-4E08-9D33-0E04B72E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6419850"/>
            <a:ext cx="2971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Reproducibility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970A7D-2380-4161-BD28-528A27C2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6724650"/>
            <a:ext cx="2971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experiment dirs preserve config, embeddings, metrics, figures, logs</a:t>
            </a:r>
          </a:p>
        </p:txBody>
      </p:sp>
      <p:sp>
        <p:nvSpPr>
          <p:cNvPr id="3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02BE18A-28FE-41F5-928B-42FEE1B6A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774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5"/>
          </a:solidFill>
          <a:ln xmlns:a="http://schemas.openxmlformats.org/drawingml/2006/main" w="0">
            <a:solidFill>
              <a:srgbClr val="D2C4A5"/>
            </a:solidFill>
            <a:prstDash val="solid"/>
          </a:ln>
        </p:spPr>
      </p:sp>
      <p:sp>
        <p:nvSpPr>
          <p:cNvPr id="36" name="source-rail">
            <a:extLst xmlns:a="http://schemas.openxmlformats.org/drawingml/2006/main">
              <a:ext uri="{FF2B5EF4-FFF2-40B4-BE49-F238E27FC236}">
                <a16:creationId xmlns:a16="http://schemas.microsoft.com/office/drawing/2014/main" id="{F9BE5588-0ADE-4187-B839-569927C3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9620250"/>
            <a:ext cx="69342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927F"/>
                </a:solidFill>
              </a:defRPr>
            </a:pPr>
            <a:r>
              <a:rPr sz="975">
                <a:solidFill>
                  <a:srgbClr val="8C927F"/>
                </a:solidFill>
              </a:rPr>
              <a:t>Sources: PROJECT_SPEC.md; report/project_structure_for_code_review.md; report/current_implementation_and_results.md.</a:t>
            </a:r>
          </a:p>
        </p:txBody>
      </p:sp>
    </p:spTree>
    <p:extLst>
      <p:ext uri="{BB962C8B-B14F-4D97-AF65-F5344CB8AC3E}">
        <p14:creationId xmlns:p14="http://schemas.microsoft.com/office/powerpoint/2010/main" val="20090484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4-background">
            <a:extLst xmlns:a="http://schemas.openxmlformats.org/drawingml/2006/main">
              <a:ext uri="{FF2B5EF4-FFF2-40B4-BE49-F238E27FC236}">
                <a16:creationId xmlns:a16="http://schemas.microsoft.com/office/drawing/2014/main" id="{674A6C36-8A71-46EC-835D-C2670A8B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D9"/>
          </a:solidFill>
          <a:ln xmlns:a="http://schemas.openxmlformats.org/drawingml/2006/main" w="0">
            <a:solidFill>
              <a:srgbClr val="F4ECD9"/>
            </a:solidFill>
            <a:prstDash val="solid"/>
          </a:ln>
        </p:spPr>
      </p:sp>
      <p:sp>
        <p:nvSpPr>
          <p:cNvPr id="2" name="slide-4-eyebrow">
            <a:extLst xmlns:a="http://schemas.openxmlformats.org/drawingml/2006/main">
              <a:ext uri="{FF2B5EF4-FFF2-40B4-BE49-F238E27FC236}">
                <a16:creationId xmlns:a16="http://schemas.microsoft.com/office/drawing/2014/main" id="{F5ED3F58-FFB2-4C6E-BBCC-EDF52F87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6858"/>
                </a:solidFill>
              </a:defRPr>
            </a:pPr>
            <a:r>
              <a:rPr sz="1650" b="1">
                <a:solidFill>
                  <a:srgbClr val="2F6858"/>
                </a:solidFill>
              </a:rPr>
              <a:t>DATA LAYER</a:t>
            </a:r>
          </a:p>
        </p:txBody>
      </p:sp>
      <p:sp>
        <p:nvSpPr>
          <p:cNvPr id="3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B184D42C-6E3B-4483-AFB0-5F200DE9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25730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201B"/>
                </a:solidFill>
              </a:defRPr>
            </a:pPr>
            <a:r>
              <a:rPr sz="4650" b="1">
                <a:solidFill>
                  <a:srgbClr val="17201B"/>
                </a:solidFill>
              </a:rPr>
              <a:t>The useful historical asset is now compact filing embeddings, not raw text hoarding</a:t>
            </a:r>
          </a:p>
        </p:txBody>
      </p:sp>
      <p:sp>
        <p:nvSpPr>
          <p:cNvPr id="4" name="slide-4-subtitle">
            <a:extLst xmlns:a="http://schemas.openxmlformats.org/drawingml/2006/main">
              <a:ext uri="{FF2B5EF4-FFF2-40B4-BE49-F238E27FC236}">
                <a16:creationId xmlns:a16="http://schemas.microsoft.com/office/drawing/2014/main" id="{D3A5D1A0-6B59-4895-BC85-C0E64D66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2573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67166"/>
                </a:solidFill>
              </a:defRPr>
            </a:pPr>
            <a:r>
              <a:rPr sz="1875">
                <a:solidFill>
                  <a:srgbClr val="667166"/>
                </a:solidFill>
              </a:rPr>
              <a:t>The 10-K + 10-Q stream stores section-level embeddings and topic counts across time, so the dashboard can track language movement without carrying all source filings forward.</a:t>
            </a:r>
          </a:p>
        </p:txBody>
      </p:sp>
      <p:sp>
        <p:nvSpPr>
          <p:cNvPr id="5" name="table-head-0">
            <a:extLst xmlns:a="http://schemas.openxmlformats.org/drawingml/2006/main">
              <a:ext uri="{FF2B5EF4-FFF2-40B4-BE49-F238E27FC236}">
                <a16:creationId xmlns:a16="http://schemas.microsoft.com/office/drawing/2014/main" id="{51F37E45-D5ED-4723-AC6F-7D928326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3143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715"/>
          </a:solidFill>
          <a:ln xmlns:a="http://schemas.openxmlformats.org/drawingml/2006/main" w="0">
            <a:solidFill>
              <a:srgbClr val="10171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F0733-120D-45D9-A7EA-6153A7DC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8E8"/>
                </a:solidFill>
              </a:defRPr>
            </a:pPr>
            <a:r>
              <a:rPr sz="1275" b="1">
                <a:solidFill>
                  <a:srgbClr val="FFF8E8"/>
                </a:solidFill>
              </a:rPr>
              <a:t>Artifact</a:t>
            </a:r>
          </a:p>
        </p:txBody>
      </p:sp>
      <p:sp>
        <p:nvSpPr>
          <p:cNvPr id="7" name="table-head-1">
            <a:extLst xmlns:a="http://schemas.openxmlformats.org/drawingml/2006/main">
              <a:ext uri="{FF2B5EF4-FFF2-40B4-BE49-F238E27FC236}">
                <a16:creationId xmlns:a16="http://schemas.microsoft.com/office/drawing/2014/main" id="{5BDC1176-C0DD-4768-A34E-3F2DCFC7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76550"/>
            <a:ext cx="14287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715"/>
          </a:solidFill>
          <a:ln xmlns:a="http://schemas.openxmlformats.org/drawingml/2006/main" w="0">
            <a:solidFill>
              <a:srgbClr val="10171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DBE54-311E-4E18-B514-A0B2CEBB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9527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8E8"/>
                </a:solidFill>
              </a:defRPr>
            </a:pPr>
            <a:r>
              <a:rPr sz="1275" b="1">
                <a:solidFill>
                  <a:srgbClr val="FFF8E8"/>
                </a:solidFill>
              </a:rPr>
              <a:t>Rows</a:t>
            </a:r>
          </a:p>
        </p:txBody>
      </p:sp>
      <p:sp>
        <p:nvSpPr>
          <p:cNvPr id="9" name="table-head-2">
            <a:extLst xmlns:a="http://schemas.openxmlformats.org/drawingml/2006/main">
              <a:ext uri="{FF2B5EF4-FFF2-40B4-BE49-F238E27FC236}">
                <a16:creationId xmlns:a16="http://schemas.microsoft.com/office/drawing/2014/main" id="{9C4E0CEB-BFFF-4BB6-B048-DAB5871F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76550"/>
            <a:ext cx="14287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715"/>
          </a:solidFill>
          <a:ln xmlns:a="http://schemas.openxmlformats.org/drawingml/2006/main" w="0">
            <a:solidFill>
              <a:srgbClr val="10171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CF5C6-B60D-4D24-9737-6CDE81E2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527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8E8"/>
                </a:solidFill>
              </a:defRPr>
            </a:pPr>
            <a:r>
              <a:rPr sz="1275" b="1">
                <a:solidFill>
                  <a:srgbClr val="FFF8E8"/>
                </a:solidFill>
              </a:rPr>
              <a:t>Tickers</a:t>
            </a:r>
          </a:p>
        </p:txBody>
      </p:sp>
      <p:sp>
        <p:nvSpPr>
          <p:cNvPr id="11" name="table-head-3">
            <a:extLst xmlns:a="http://schemas.openxmlformats.org/drawingml/2006/main">
              <a:ext uri="{FF2B5EF4-FFF2-40B4-BE49-F238E27FC236}">
                <a16:creationId xmlns:a16="http://schemas.microsoft.com/office/drawing/2014/main" id="{51906CE3-BAA9-4848-B6F2-244E03E8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76550"/>
            <a:ext cx="28575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715"/>
          </a:solidFill>
          <a:ln xmlns:a="http://schemas.openxmlformats.org/drawingml/2006/main" w="0">
            <a:solidFill>
              <a:srgbClr val="10171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C2CEC-D44D-4342-9E27-ECBE5565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52750"/>
            <a:ext cx="266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8E8"/>
                </a:solidFill>
              </a:defRPr>
            </a:pPr>
            <a:r>
              <a:rPr sz="1275" b="1">
                <a:solidFill>
                  <a:srgbClr val="FFF8E8"/>
                </a:solidFill>
              </a:rPr>
              <a:t>Size / note</a:t>
            </a:r>
          </a:p>
        </p:txBody>
      </p:sp>
      <p:sp>
        <p:nvSpPr>
          <p:cNvPr id="13" name="table-cell-0-0">
            <a:extLst xmlns:a="http://schemas.openxmlformats.org/drawingml/2006/main">
              <a:ext uri="{FF2B5EF4-FFF2-40B4-BE49-F238E27FC236}">
                <a16:creationId xmlns:a16="http://schemas.microsoft.com/office/drawing/2014/main" id="{6837CD68-F60C-4354-B776-66ACB3DB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3143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F2161-27AB-4511-95AE-2B1176C3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1B"/>
                </a:solidFill>
              </a:defRPr>
            </a:pPr>
            <a:r>
              <a:rPr sz="1350">
                <a:solidFill>
                  <a:srgbClr val="17201B"/>
                </a:solidFill>
              </a:rPr>
              <a:t>section embeddings</a:t>
            </a:r>
          </a:p>
        </p:txBody>
      </p:sp>
      <p:sp>
        <p:nvSpPr>
          <p:cNvPr id="15" name="table-cell-0-1">
            <a:extLst xmlns:a="http://schemas.openxmlformats.org/drawingml/2006/main">
              <a:ext uri="{FF2B5EF4-FFF2-40B4-BE49-F238E27FC236}">
                <a16:creationId xmlns:a16="http://schemas.microsoft.com/office/drawing/2014/main" id="{4E316C14-47B7-410A-A4BF-C570D2DE5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33750"/>
            <a:ext cx="14287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BA5826-0E0A-434C-B21A-B236A80F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099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1B"/>
                </a:solidFill>
              </a:defRPr>
            </a:pPr>
            <a:r>
              <a:rPr sz="1350">
                <a:solidFill>
                  <a:srgbClr val="17201B"/>
                </a:solidFill>
              </a:rPr>
              <a:t>115,549</a:t>
            </a:r>
          </a:p>
        </p:txBody>
      </p:sp>
      <p:sp>
        <p:nvSpPr>
          <p:cNvPr id="17" name="table-cell-0-2">
            <a:extLst xmlns:a="http://schemas.openxmlformats.org/drawingml/2006/main">
              <a:ext uri="{FF2B5EF4-FFF2-40B4-BE49-F238E27FC236}">
                <a16:creationId xmlns:a16="http://schemas.microsoft.com/office/drawing/2014/main" id="{F67AEB93-0A2F-4765-AE59-99F0CFCF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333750"/>
            <a:ext cx="14287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1D230E-6944-4A72-B753-DF728F20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099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1B"/>
                </a:solidFill>
              </a:defRPr>
            </a:pPr>
            <a:r>
              <a:rPr sz="1350">
                <a:solidFill>
                  <a:srgbClr val="17201B"/>
                </a:solidFill>
              </a:rPr>
              <a:t>500</a:t>
            </a:r>
          </a:p>
        </p:txBody>
      </p:sp>
      <p:sp>
        <p:nvSpPr>
          <p:cNvPr id="19" name="table-cell-0-3">
            <a:extLst xmlns:a="http://schemas.openxmlformats.org/drawingml/2006/main">
              <a:ext uri="{FF2B5EF4-FFF2-40B4-BE49-F238E27FC236}">
                <a16:creationId xmlns:a16="http://schemas.microsoft.com/office/drawing/2014/main" id="{2B8B04A3-2187-4639-83B3-FA27A5F2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285750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665B7C-B975-4140-9B64-5F60A9AD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09950"/>
            <a:ext cx="266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1B"/>
                </a:solidFill>
              </a:defRPr>
            </a:pPr>
            <a:r>
              <a:rPr sz="1350">
                <a:solidFill>
                  <a:srgbClr val="17201B"/>
                </a:solidFill>
              </a:rPr>
              <a:t>277 MB</a:t>
            </a:r>
          </a:p>
        </p:txBody>
      </p:sp>
      <p:sp>
        <p:nvSpPr>
          <p:cNvPr id="21" name="table-cell-1-0">
            <a:extLst xmlns:a="http://schemas.openxmlformats.org/drawingml/2006/main">
              <a:ext uri="{FF2B5EF4-FFF2-40B4-BE49-F238E27FC236}">
                <a16:creationId xmlns:a16="http://schemas.microsoft.com/office/drawing/2014/main" id="{D8D0C630-1342-4EE5-B55E-913E6169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3143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98DDCD-5BF0-4B27-BAE1-0839154C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1B"/>
                </a:solidFill>
              </a:defRPr>
            </a:pPr>
            <a:r>
              <a:rPr sz="1350">
                <a:solidFill>
                  <a:srgbClr val="17201B"/>
                </a:solidFill>
              </a:rPr>
              <a:t>topic counts</a:t>
            </a:r>
          </a:p>
        </p:txBody>
      </p:sp>
      <p:sp>
        <p:nvSpPr>
          <p:cNvPr id="23" name="table-cell-1-1">
            <a:extLst xmlns:a="http://schemas.openxmlformats.org/drawingml/2006/main">
              <a:ext uri="{FF2B5EF4-FFF2-40B4-BE49-F238E27FC236}">
                <a16:creationId xmlns:a16="http://schemas.microsoft.com/office/drawing/2014/main" id="{995103EC-80A8-45A1-B669-C5F3D846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943350"/>
            <a:ext cx="14287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548984-0FE8-4FB4-984C-80162E3B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0195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1B"/>
                </a:solidFill>
              </a:defRPr>
            </a:pPr>
            <a:r>
              <a:rPr sz="1350">
                <a:solidFill>
                  <a:srgbClr val="17201B"/>
                </a:solidFill>
              </a:rPr>
              <a:t>125,359</a:t>
            </a:r>
          </a:p>
        </p:txBody>
      </p:sp>
      <p:sp>
        <p:nvSpPr>
          <p:cNvPr id="25" name="table-cell-1-2">
            <a:extLst xmlns:a="http://schemas.openxmlformats.org/drawingml/2006/main">
              <a:ext uri="{FF2B5EF4-FFF2-40B4-BE49-F238E27FC236}">
                <a16:creationId xmlns:a16="http://schemas.microsoft.com/office/drawing/2014/main" id="{1B4E4E9A-26E1-47F6-B0E6-27F8670F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43350"/>
            <a:ext cx="14287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45901B-B8B6-4F72-911D-A352FB8C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0195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1B"/>
                </a:solidFill>
              </a:defRPr>
            </a:pPr>
            <a:r>
              <a:rPr sz="1350">
                <a:solidFill>
                  <a:srgbClr val="17201B"/>
                </a:solidFill>
              </a:rPr>
              <a:t>500</a:t>
            </a:r>
          </a:p>
        </p:txBody>
      </p:sp>
      <p:sp>
        <p:nvSpPr>
          <p:cNvPr id="27" name="table-cell-1-3">
            <a:extLst xmlns:a="http://schemas.openxmlformats.org/drawingml/2006/main">
              <a:ext uri="{FF2B5EF4-FFF2-40B4-BE49-F238E27FC236}">
                <a16:creationId xmlns:a16="http://schemas.microsoft.com/office/drawing/2014/main" id="{174EB6F7-BED1-44FD-827C-5A9135BA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43350"/>
            <a:ext cx="285750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A693A8-5ED9-47CE-9B35-AB5980F3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19550"/>
            <a:ext cx="266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1B"/>
                </a:solidFill>
              </a:defRPr>
            </a:pPr>
            <a:r>
              <a:rPr sz="1350">
                <a:solidFill>
                  <a:srgbClr val="17201B"/>
                </a:solidFill>
              </a:rPr>
              <a:t>2.65 MB</a:t>
            </a:r>
          </a:p>
        </p:txBody>
      </p:sp>
      <p:sp>
        <p:nvSpPr>
          <p:cNvPr id="29" name="table-cell-2-0">
            <a:extLst xmlns:a="http://schemas.openxmlformats.org/drawingml/2006/main">
              <a:ext uri="{FF2B5EF4-FFF2-40B4-BE49-F238E27FC236}">
                <a16:creationId xmlns:a16="http://schemas.microsoft.com/office/drawing/2014/main" id="{B416EB76-D51A-4FEF-9514-3BA75F4A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3143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1D13FA-0DA2-4951-A167-B5C8A09A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1B"/>
                </a:solidFill>
              </a:defRPr>
            </a:pPr>
            <a:r>
              <a:rPr sz="1350">
                <a:solidFill>
                  <a:srgbClr val="17201B"/>
                </a:solidFill>
              </a:rPr>
              <a:t>text_historical features</a:t>
            </a:r>
          </a:p>
        </p:txBody>
      </p:sp>
      <p:sp>
        <p:nvSpPr>
          <p:cNvPr id="31" name="table-cell-2-1">
            <a:extLst xmlns:a="http://schemas.openxmlformats.org/drawingml/2006/main">
              <a:ext uri="{FF2B5EF4-FFF2-40B4-BE49-F238E27FC236}">
                <a16:creationId xmlns:a16="http://schemas.microsoft.com/office/drawing/2014/main" id="{FBCA804B-5EFA-4B6D-AD97-E1DF8CEE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52950"/>
            <a:ext cx="14287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58A303-DC26-4370-B555-6FC20C47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291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1B"/>
                </a:solidFill>
              </a:defRPr>
            </a:pPr>
            <a:r>
              <a:rPr sz="1350">
                <a:solidFill>
                  <a:srgbClr val="17201B"/>
                </a:solidFill>
              </a:rPr>
              <a:t>87,282</a:t>
            </a:r>
          </a:p>
        </p:txBody>
      </p:sp>
      <p:sp>
        <p:nvSpPr>
          <p:cNvPr id="33" name="table-cell-2-2">
            <a:extLst xmlns:a="http://schemas.openxmlformats.org/drawingml/2006/main">
              <a:ext uri="{FF2B5EF4-FFF2-40B4-BE49-F238E27FC236}">
                <a16:creationId xmlns:a16="http://schemas.microsoft.com/office/drawing/2014/main" id="{CA8932D3-EC89-47EE-B9CF-1251A940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552950"/>
            <a:ext cx="14287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CA9DD3-3545-46DA-9797-BE59CF16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6291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1B"/>
                </a:solidFill>
              </a:defRPr>
            </a:pPr>
            <a:r>
              <a:rPr sz="1350">
                <a:solidFill>
                  <a:srgbClr val="17201B"/>
                </a:solidFill>
              </a:rPr>
              <a:t>502</a:t>
            </a:r>
          </a:p>
        </p:txBody>
      </p:sp>
      <p:sp>
        <p:nvSpPr>
          <p:cNvPr id="35" name="table-cell-2-3">
            <a:extLst xmlns:a="http://schemas.openxmlformats.org/drawingml/2006/main">
              <a:ext uri="{FF2B5EF4-FFF2-40B4-BE49-F238E27FC236}">
                <a16:creationId xmlns:a16="http://schemas.microsoft.com/office/drawing/2014/main" id="{D2E76ED1-0150-4E1F-85F5-52DC166F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52950"/>
            <a:ext cx="285750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61C87B-184A-4661-9487-358F0B26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29150"/>
            <a:ext cx="266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1B"/>
                </a:solidFill>
              </a:defRPr>
            </a:pPr>
            <a:r>
              <a:rPr sz="1350">
                <a:solidFill>
                  <a:srgbClr val="17201B"/>
                </a:solidFill>
              </a:rPr>
              <a:t>64 PCA dims</a:t>
            </a:r>
          </a:p>
        </p:txBody>
      </p:sp>
      <p:sp>
        <p:nvSpPr>
          <p:cNvPr id="37" name="table-cell-3-0">
            <a:extLst xmlns:a="http://schemas.openxmlformats.org/drawingml/2006/main">
              <a:ext uri="{FF2B5EF4-FFF2-40B4-BE49-F238E27FC236}">
                <a16:creationId xmlns:a16="http://schemas.microsoft.com/office/drawing/2014/main" id="{6225A9DF-72FE-42FD-89F3-AE244938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3143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25E24A-CED9-492F-B739-58A401B8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1B"/>
                </a:solidFill>
              </a:defRPr>
            </a:pPr>
            <a:r>
              <a:rPr sz="1350">
                <a:solidFill>
                  <a:srgbClr val="17201B"/>
                </a:solidFill>
              </a:rPr>
              <a:t>fundamentals</a:t>
            </a:r>
          </a:p>
        </p:txBody>
      </p:sp>
      <p:sp>
        <p:nvSpPr>
          <p:cNvPr id="39" name="table-cell-3-1">
            <a:extLst xmlns:a="http://schemas.openxmlformats.org/drawingml/2006/main">
              <a:ext uri="{FF2B5EF4-FFF2-40B4-BE49-F238E27FC236}">
                <a16:creationId xmlns:a16="http://schemas.microsoft.com/office/drawing/2014/main" id="{2EA1C723-8356-49C6-8245-7CFA91E6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162550"/>
            <a:ext cx="14287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06A1EF-4438-488B-8B0A-B0119698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2387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1B"/>
                </a:solidFill>
              </a:defRPr>
            </a:pPr>
            <a:r>
              <a:rPr sz="1350">
                <a:solidFill>
                  <a:srgbClr val="17201B"/>
                </a:solidFill>
              </a:rPr>
              <a:t>729,163</a:t>
            </a:r>
          </a:p>
        </p:txBody>
      </p:sp>
      <p:sp>
        <p:nvSpPr>
          <p:cNvPr id="41" name="table-cell-3-2">
            <a:extLst xmlns:a="http://schemas.openxmlformats.org/drawingml/2006/main">
              <a:ext uri="{FF2B5EF4-FFF2-40B4-BE49-F238E27FC236}">
                <a16:creationId xmlns:a16="http://schemas.microsoft.com/office/drawing/2014/main" id="{81FEDD39-1766-4684-A2BF-CC3F9FF1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162550"/>
            <a:ext cx="14287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BAC6C3-7CD0-4271-8D9C-13D6D448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2387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1B"/>
                </a:solidFill>
              </a:defRPr>
            </a:pPr>
            <a:r>
              <a:rPr sz="1350">
                <a:solidFill>
                  <a:srgbClr val="17201B"/>
                </a:solidFill>
              </a:rPr>
              <a:t>500</a:t>
            </a:r>
          </a:p>
        </p:txBody>
      </p:sp>
      <p:sp>
        <p:nvSpPr>
          <p:cNvPr id="43" name="table-cell-3-3">
            <a:extLst xmlns:a="http://schemas.openxmlformats.org/drawingml/2006/main">
              <a:ext uri="{FF2B5EF4-FFF2-40B4-BE49-F238E27FC236}">
                <a16:creationId xmlns:a16="http://schemas.microsoft.com/office/drawing/2014/main" id="{C7E1B2CF-C9CB-43B9-8BDB-B70E1C68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62550"/>
            <a:ext cx="285750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08CDA3-7735-4713-B764-A1C67168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238750"/>
            <a:ext cx="266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1B"/>
                </a:solidFill>
              </a:defRPr>
            </a:pPr>
            <a:r>
              <a:rPr sz="1350">
                <a:solidFill>
                  <a:srgbClr val="17201B"/>
                </a:solidFill>
              </a:rPr>
              <a:t>14 concepts</a:t>
            </a:r>
          </a:p>
        </p:txBody>
      </p:sp>
      <p:sp>
        <p:nvSpPr>
          <p:cNvPr id="45" name="table-cell-4-0">
            <a:extLst xmlns:a="http://schemas.openxmlformats.org/drawingml/2006/main">
              <a:ext uri="{FF2B5EF4-FFF2-40B4-BE49-F238E27FC236}">
                <a16:creationId xmlns:a16="http://schemas.microsoft.com/office/drawing/2014/main" id="{1E7A811B-0D3A-4E16-A9B7-48FAA24B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31432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C19CF2-40B9-4143-B19E-6A011538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48350"/>
            <a:ext cx="2952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1B"/>
                </a:solidFill>
              </a:defRPr>
            </a:pPr>
            <a:r>
              <a:rPr sz="1350">
                <a:solidFill>
                  <a:srgbClr val="17201B"/>
                </a:solidFill>
              </a:rPr>
              <a:t>relationship graph</a:t>
            </a:r>
          </a:p>
        </p:txBody>
      </p:sp>
      <p:sp>
        <p:nvSpPr>
          <p:cNvPr id="47" name="table-cell-4-1">
            <a:extLst xmlns:a="http://schemas.openxmlformats.org/drawingml/2006/main">
              <a:ext uri="{FF2B5EF4-FFF2-40B4-BE49-F238E27FC236}">
                <a16:creationId xmlns:a16="http://schemas.microsoft.com/office/drawing/2014/main" id="{5351BE72-D9A1-40F8-A9E5-F3A59DA8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772150"/>
            <a:ext cx="14287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C8E0650-8D4C-4455-9D31-FA3FE7A8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58483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1B"/>
                </a:solidFill>
              </a:defRPr>
            </a:pPr>
            <a:r>
              <a:rPr sz="1350">
                <a:solidFill>
                  <a:srgbClr val="17201B"/>
                </a:solidFill>
              </a:rPr>
              <a:t>676</a:t>
            </a:r>
          </a:p>
        </p:txBody>
      </p:sp>
      <p:sp>
        <p:nvSpPr>
          <p:cNvPr id="49" name="table-cell-4-2">
            <a:extLst xmlns:a="http://schemas.openxmlformats.org/drawingml/2006/main">
              <a:ext uri="{FF2B5EF4-FFF2-40B4-BE49-F238E27FC236}">
                <a16:creationId xmlns:a16="http://schemas.microsoft.com/office/drawing/2014/main" id="{377D3CBE-3936-4DD0-84A3-29499827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772150"/>
            <a:ext cx="14287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621BFA-011C-4D92-8E37-54E8CE83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848350"/>
            <a:ext cx="1238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1B"/>
                </a:solidFill>
              </a:defRPr>
            </a:pPr>
            <a:r>
              <a:rPr sz="1350">
                <a:solidFill>
                  <a:srgbClr val="17201B"/>
                </a:solidFill>
              </a:rPr>
              <a:t>265 src</a:t>
            </a:r>
          </a:p>
        </p:txBody>
      </p:sp>
      <p:sp>
        <p:nvSpPr>
          <p:cNvPr id="51" name="table-cell-4-3">
            <a:extLst xmlns:a="http://schemas.openxmlformats.org/drawingml/2006/main">
              <a:ext uri="{FF2B5EF4-FFF2-40B4-BE49-F238E27FC236}">
                <a16:creationId xmlns:a16="http://schemas.microsoft.com/office/drawing/2014/main" id="{AB414372-03E4-4A22-B08D-1D2E14F2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772150"/>
            <a:ext cx="285750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E05973-6A38-4547-9A28-9FC3DFE8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848350"/>
            <a:ext cx="266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201B"/>
                </a:solidFill>
              </a:defRPr>
            </a:pPr>
            <a:r>
              <a:rPr sz="1350">
                <a:solidFill>
                  <a:srgbClr val="17201B"/>
                </a:solidFill>
              </a:rPr>
              <a:t>sparse, conservative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8FB4B42-798B-4F9D-A3DA-7BEC0E27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496050"/>
            <a:ext cx="82296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7166"/>
                </a:solidFill>
              </a:defRPr>
            </a:pPr>
            <a:r>
              <a:rPr sz="1425">
                <a:solidFill>
                  <a:srgbClr val="667166"/>
                </a:solidFill>
              </a:rPr>
              <a:t>Completed text artifact currently covers 10-K and 10-Q filings since 2010; 8-K and other forms are supported next, but not fully embedded yet.</a:t>
            </a:r>
          </a:p>
        </p:txBody>
      </p:sp>
      <p:sp>
        <p:nvSpPr>
          <p:cNvPr id="54" name="section-coverage-chart-shell">
            <a:extLst xmlns:a="http://schemas.openxmlformats.org/drawingml/2006/main">
              <a:ext uri="{FF2B5EF4-FFF2-40B4-BE49-F238E27FC236}">
                <a16:creationId xmlns:a16="http://schemas.microsoft.com/office/drawing/2014/main" id="{C0767114-8511-4786-9FC9-6BCB8289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76550"/>
            <a:ext cx="8229600" cy="5086350"/>
          </a:xfrm>
          <a:prstGeom xmlns:a="http://schemas.openxmlformats.org/drawingml/2006/main" prst="roundRect">
            <a:avLst>
              <a:gd name="adj" fmla="val 1498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2C4A5"/>
            </a:solidFill>
            <a:prstDash val="solid"/>
          </a:ln>
        </p:spPr>
      </p:sp>
      <p:graphicFrame>
        <p:nvGraphicFramePr>
          <p:cNvPr id="55" name="section-coverage-chart"/>
          <p:cNvGraphicFramePr/>
          <p:nvPr/>
        </p:nvGraphicFramePr>
        <p:xfrm>
          <a:off xmlns:a="http://schemas.openxmlformats.org/drawingml/2006/main" x="9448800" y="3028950"/>
          <a:ext xmlns:a="http://schemas.openxmlformats.org/drawingml/2006/main" cx="7886700" cy="4781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bacb285c6684c06"/>
          </a:graphicData>
        </a:graphic>
      </p:graphicFrame>
      <p:sp>
        <p:nvSpPr>
          <p:cNvPr id="5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3C93810-E7C2-4841-A9B8-B5E8BBEF1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1582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5"/>
          </a:solidFill>
          <a:ln xmlns:a="http://schemas.openxmlformats.org/drawingml/2006/main" w="0">
            <a:solidFill>
              <a:srgbClr val="D2C4A5"/>
            </a:solidFill>
            <a:prstDash val="solid"/>
          </a:ln>
        </p:spPr>
      </p:sp>
      <p:sp>
        <p:nvSpPr>
          <p:cNvPr id="57" name="source-rail">
            <a:extLst xmlns:a="http://schemas.openxmlformats.org/drawingml/2006/main">
              <a:ext uri="{FF2B5EF4-FFF2-40B4-BE49-F238E27FC236}">
                <a16:creationId xmlns:a16="http://schemas.microsoft.com/office/drawing/2014/main" id="{E6B6AE6E-12A9-4547-B236-3E7DD3C1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9486900"/>
            <a:ext cx="4972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927F"/>
                </a:solidFill>
              </a:defRPr>
            </a:pPr>
            <a:r>
              <a:rPr sz="975">
                <a:solidFill>
                  <a:srgbClr val="8C927F"/>
                </a:solidFill>
              </a:rPr>
              <a:t>Sources: report/historical_text_trends.md; report/current_implementation_and_results.md.</a:t>
            </a:r>
          </a:p>
        </p:txBody>
      </p:sp>
    </p:spTree>
    <p:extLst>
      <p:ext uri="{BB962C8B-B14F-4D97-AF65-F5344CB8AC3E}">
        <p14:creationId xmlns:p14="http://schemas.microsoft.com/office/powerpoint/2010/main" val="20399171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5-background">
            <a:extLst xmlns:a="http://schemas.openxmlformats.org/drawingml/2006/main">
              <a:ext uri="{FF2B5EF4-FFF2-40B4-BE49-F238E27FC236}">
                <a16:creationId xmlns:a16="http://schemas.microsoft.com/office/drawing/2014/main" id="{E57BD899-01F5-4FE4-9341-45F2F264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D9"/>
          </a:solidFill>
          <a:ln xmlns:a="http://schemas.openxmlformats.org/drawingml/2006/main" w="0">
            <a:solidFill>
              <a:srgbClr val="F4ECD9"/>
            </a:solidFill>
            <a:prstDash val="solid"/>
          </a:ln>
        </p:spPr>
      </p:sp>
      <p:sp>
        <p:nvSpPr>
          <p:cNvPr id="2" name="slide-5-eyebrow">
            <a:extLst xmlns:a="http://schemas.openxmlformats.org/drawingml/2006/main">
              <a:ext uri="{FF2B5EF4-FFF2-40B4-BE49-F238E27FC236}">
                <a16:creationId xmlns:a16="http://schemas.microsoft.com/office/drawing/2014/main" id="{DFA4543A-E022-41A3-87D9-958CA514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6858"/>
                </a:solidFill>
              </a:defRPr>
            </a:pPr>
            <a:r>
              <a:rPr sz="1650" b="1">
                <a:solidFill>
                  <a:srgbClr val="2F6858"/>
                </a:solidFill>
              </a:rPr>
              <a:t>EMBEDDINGS</a:t>
            </a:r>
          </a:p>
        </p:txBody>
      </p:sp>
      <p:sp>
        <p:nvSpPr>
          <p:cNvPr id="3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254475A8-8D5A-4C43-8E0D-434124BD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25730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201B"/>
                </a:solidFill>
              </a:defRPr>
            </a:pPr>
            <a:r>
              <a:rPr sz="4650" b="1">
                <a:solidFill>
                  <a:srgbClr val="17201B"/>
                </a:solidFill>
              </a:rPr>
              <a:t>Historical text materially improved the business view</a:t>
            </a:r>
          </a:p>
        </p:txBody>
      </p:sp>
      <p:sp>
        <p:nvSpPr>
          <p:cNvPr id="4" name="slide-5-subtitle">
            <a:extLst xmlns:a="http://schemas.openxmlformats.org/drawingml/2006/main">
              <a:ext uri="{FF2B5EF4-FFF2-40B4-BE49-F238E27FC236}">
                <a16:creationId xmlns:a16="http://schemas.microsoft.com/office/drawing/2014/main" id="{3E5B8303-72AC-480F-9E70-6F2787CF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2573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67166"/>
                </a:solidFill>
              </a:defRPr>
            </a:pPr>
            <a:r>
              <a:rPr sz="1875">
                <a:solidFill>
                  <a:srgbClr val="667166"/>
                </a:solidFill>
              </a:rPr>
              <a:t>The strongest positive result remains semantic structure: company descriptions cluster into economically sensible groups and now beat the earlier text baseline on GICS NMI.</a:t>
            </a:r>
          </a:p>
        </p:txBody>
      </p:sp>
      <p:sp>
        <p:nvSpPr>
          <p:cNvPr id="5" name="embedding-quality-chart-shell">
            <a:extLst xmlns:a="http://schemas.openxmlformats.org/drawingml/2006/main">
              <a:ext uri="{FF2B5EF4-FFF2-40B4-BE49-F238E27FC236}">
                <a16:creationId xmlns:a16="http://schemas.microsoft.com/office/drawing/2014/main" id="{1CFCBD63-98F7-4296-A58E-A2B313A8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982325" cy="518160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2C4A5"/>
            </a:solidFill>
            <a:prstDash val="solid"/>
          </a:ln>
        </p:spPr>
      </p:sp>
      <p:graphicFrame>
        <p:nvGraphicFramePr>
          <p:cNvPr id="6" name="embedding-quality-chart"/>
          <p:cNvGraphicFramePr/>
          <p:nvPr/>
        </p:nvGraphicFramePr>
        <p:xfrm>
          <a:off xmlns:a="http://schemas.openxmlformats.org/drawingml/2006/main" x="952500" y="3028950"/>
          <a:ext xmlns:a="http://schemas.openxmlformats.org/drawingml/2006/main" cx="10639425" cy="4876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e9d2b1f8124c6e"/>
          </a:graphicData>
        </a:graphic>
      </p:graphicFrame>
      <p:sp>
        <p:nvSpPr>
          <p:cNvPr id="7" name="callout-mark-Best sem">
            <a:extLst xmlns:a="http://schemas.openxmlformats.org/drawingml/2006/main">
              <a:ext uri="{FF2B5EF4-FFF2-40B4-BE49-F238E27FC236}">
                <a16:creationId xmlns:a16="http://schemas.microsoft.com/office/drawing/2014/main" id="{93AE8A3B-ACB1-4534-95D2-C4623640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8956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858"/>
          </a:solidFill>
          <a:ln xmlns:a="http://schemas.openxmlformats.org/drawingml/2006/main" w="0">
            <a:solidFill>
              <a:srgbClr val="2F68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8A8C36-2788-49F3-B83D-5D01EA56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876550"/>
            <a:ext cx="521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Best semantic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C6F34-C2A0-4C78-A553-7062AE53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200400"/>
            <a:ext cx="521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Historical-text business AE: NMI 0.433, ARI 0.255.</a:t>
            </a:r>
          </a:p>
        </p:txBody>
      </p:sp>
      <p:sp>
        <p:nvSpPr>
          <p:cNvPr id="10" name="callout-mark-Risk vie">
            <a:extLst xmlns:a="http://schemas.openxmlformats.org/drawingml/2006/main">
              <a:ext uri="{FF2B5EF4-FFF2-40B4-BE49-F238E27FC236}">
                <a16:creationId xmlns:a16="http://schemas.microsoft.com/office/drawing/2014/main" id="{F31E73BC-EB5B-43B4-971F-C7FACD35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0386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F9D"/>
          </a:solidFill>
          <a:ln xmlns:a="http://schemas.openxmlformats.org/drawingml/2006/main" w="0">
            <a:solidFill>
              <a:srgbClr val="346F9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4218F-B3BA-45CC-A35D-1793A7A6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4038600"/>
            <a:ext cx="521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Risk view 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DE691-C1CB-433C-8EE0-114E39D1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4362450"/>
            <a:ext cx="5219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Price/risk embedding is weaker semantically, but stronger for return co-movement.</a:t>
            </a:r>
          </a:p>
        </p:txBody>
      </p:sp>
      <p:sp>
        <p:nvSpPr>
          <p:cNvPr id="13" name="callout-mark-Qualitat">
            <a:extLst xmlns:a="http://schemas.openxmlformats.org/drawingml/2006/main">
              <a:ext uri="{FF2B5EF4-FFF2-40B4-BE49-F238E27FC236}">
                <a16:creationId xmlns:a16="http://schemas.microsoft.com/office/drawing/2014/main" id="{32B43FC2-4AE2-47EE-9DFF-940A443E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51816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53D"/>
          </a:solidFill>
          <a:ln xmlns:a="http://schemas.openxmlformats.org/drawingml/2006/main" w="0">
            <a:solidFill>
              <a:srgbClr val="C7653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57648-DCCB-4AFC-9674-681CAF90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5200650"/>
            <a:ext cx="521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Qualitative examples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EB27F-DE77-4571-8E37-1372C912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5524500"/>
            <a:ext cx="5219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META with WDAY/CRM/INTU; ETN with utilities; CBRE with alt-asset managers; SBUX with CPG brands.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714AE41-21BC-451D-A23E-DE1C1434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77400"/>
            <a:ext cx="11868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5"/>
          </a:solidFill>
          <a:ln xmlns:a="http://schemas.openxmlformats.org/drawingml/2006/main" w="0">
            <a:solidFill>
              <a:srgbClr val="D2C4A5"/>
            </a:solidFill>
            <a:prstDash val="solid"/>
          </a:ln>
        </p:spPr>
      </p:sp>
      <p:sp>
        <p:nvSpPr>
          <p:cNvPr id="17" name="source-rail">
            <a:extLst xmlns:a="http://schemas.openxmlformats.org/drawingml/2006/main">
              <a:ext uri="{FF2B5EF4-FFF2-40B4-BE49-F238E27FC236}">
                <a16:creationId xmlns:a16="http://schemas.microsoft.com/office/drawing/2014/main" id="{6983D034-CBBF-4A33-8375-45BFB421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9620250"/>
            <a:ext cx="46863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927F"/>
                </a:solidFill>
              </a:defRPr>
            </a:pPr>
            <a:r>
              <a:rPr sz="975">
                <a:solidFill>
                  <a:srgbClr val="8C927F"/>
                </a:solidFill>
              </a:rPr>
              <a:t>Sources: report/current_implementation_and_results.md; experiments/*/metrics.json.</a:t>
            </a:r>
          </a:p>
        </p:txBody>
      </p:sp>
    </p:spTree>
    <p:extLst>
      <p:ext uri="{BB962C8B-B14F-4D97-AF65-F5344CB8AC3E}">
        <p14:creationId xmlns:p14="http://schemas.microsoft.com/office/powerpoint/2010/main" val="114589787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6-background">
            <a:extLst xmlns:a="http://schemas.openxmlformats.org/drawingml/2006/main">
              <a:ext uri="{FF2B5EF4-FFF2-40B4-BE49-F238E27FC236}">
                <a16:creationId xmlns:a16="http://schemas.microsoft.com/office/drawing/2014/main" id="{16766644-4952-4B24-8402-BDDB3A89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D9"/>
          </a:solidFill>
          <a:ln xmlns:a="http://schemas.openxmlformats.org/drawingml/2006/main" w="0">
            <a:solidFill>
              <a:srgbClr val="F4ECD9"/>
            </a:solidFill>
            <a:prstDash val="solid"/>
          </a:ln>
        </p:spPr>
      </p:sp>
      <p:sp>
        <p:nvSpPr>
          <p:cNvPr id="2" name="slide-6-eyebrow">
            <a:extLst xmlns:a="http://schemas.openxmlformats.org/drawingml/2006/main">
              <a:ext uri="{FF2B5EF4-FFF2-40B4-BE49-F238E27FC236}">
                <a16:creationId xmlns:a16="http://schemas.microsoft.com/office/drawing/2014/main" id="{12682188-015F-4B5B-8A5A-F83C40F9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6858"/>
                </a:solidFill>
              </a:defRPr>
            </a:pPr>
            <a:r>
              <a:rPr sz="1650" b="1">
                <a:solidFill>
                  <a:srgbClr val="2F6858"/>
                </a:solidFill>
              </a:rPr>
              <a:t>LANGUAGE DRIFT</a:t>
            </a:r>
          </a:p>
        </p:txBody>
      </p:sp>
      <p:sp>
        <p:nvSpPr>
          <p:cNvPr id="3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9F7F64A3-4FC5-4BE7-BC33-8999045CF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25730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201B"/>
                </a:solidFill>
              </a:defRPr>
            </a:pPr>
            <a:r>
              <a:rPr sz="4650" b="1">
                <a:solidFill>
                  <a:srgbClr val="17201B"/>
                </a:solidFill>
              </a:rPr>
              <a:t>The dashboard is already finding the AI regime shift</a:t>
            </a:r>
          </a:p>
        </p:txBody>
      </p:sp>
      <p:sp>
        <p:nvSpPr>
          <p:cNvPr id="4" name="slide-6-subtitle">
            <a:extLst xmlns:a="http://schemas.openxmlformats.org/drawingml/2006/main">
              <a:ext uri="{FF2B5EF4-FFF2-40B4-BE49-F238E27FC236}">
                <a16:creationId xmlns:a16="http://schemas.microsoft.com/office/drawing/2014/main" id="{CD94F728-6868-4B4E-BB39-7145D152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2573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67166"/>
                </a:solidFill>
              </a:defRPr>
            </a:pPr>
            <a:r>
              <a:rPr sz="1875">
                <a:solidFill>
                  <a:srgbClr val="667166"/>
                </a:solidFill>
              </a:rPr>
              <a:t>The 2023-2026 filing stream shows AI language rising sharply, especially in risk factors, and the company-level movers are economically plausible.</a:t>
            </a:r>
          </a:p>
        </p:txBody>
      </p:sp>
      <p:sp>
        <p:nvSpPr>
          <p:cNvPr id="5" name="ai-trend-chart-shell">
            <a:extLst xmlns:a="http://schemas.openxmlformats.org/drawingml/2006/main">
              <a:ext uri="{FF2B5EF4-FFF2-40B4-BE49-F238E27FC236}">
                <a16:creationId xmlns:a16="http://schemas.microsoft.com/office/drawing/2014/main" id="{3EAA9F2C-8FA5-4717-883B-3C480B73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982325" cy="5181600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2C4A5"/>
            </a:solidFill>
            <a:prstDash val="solid"/>
          </a:ln>
        </p:spPr>
      </p:sp>
      <p:graphicFrame>
        <p:nvGraphicFramePr>
          <p:cNvPr id="6" name="ai-trend-chart"/>
          <p:cNvGraphicFramePr/>
          <p:nvPr/>
        </p:nvGraphicFramePr>
        <p:xfrm>
          <a:off xmlns:a="http://schemas.openxmlformats.org/drawingml/2006/main" x="952500" y="3028950"/>
          <a:ext xmlns:a="http://schemas.openxmlformats.org/drawingml/2006/main" cx="10639425" cy="4876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778435427c9474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934D4-D59F-4ADC-B236-FF854417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876550"/>
            <a:ext cx="548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C7653D"/>
                </a:solidFill>
              </a:defRPr>
            </a:pPr>
            <a:r>
              <a:rPr sz="1650" b="1">
                <a:solidFill>
                  <a:srgbClr val="C7653D"/>
                </a:solidFill>
              </a:rPr>
              <a:t>Largest AI-language increases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F2E18-383F-46C5-A7CF-46A85100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3257550"/>
            <a:ext cx="548640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01B"/>
                </a:solidFill>
              </a:defRPr>
            </a:pPr>
            <a:r>
              <a:rPr sz="3225" b="1">
                <a:solidFill>
                  <a:srgbClr val="17201B"/>
                </a:solidFill>
              </a:rPr>
              <a:t>EPAM, ADBE, ADP, AMZN, EFX, PANW, NVDA, CDNS, NOW, INTU, ORCL, QCOM, MSFT, META.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34BB2-74B3-445D-B934-93BEAECE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5067300"/>
            <a:ext cx="5486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1B"/>
                </a:solidFill>
              </a:defRPr>
            </a:pPr>
            <a:r>
              <a:rPr sz="1800">
                <a:solidFill>
                  <a:srgbClr val="17201B"/>
                </a:solidFill>
              </a:rPr>
              <a:t>This is exactly what the dashboard should be good at: finding strategic language shifts outside the obvious sector buckets.</a:t>
            </a:r>
          </a:p>
        </p:txBody>
      </p:sp>
      <p:sp>
        <p:nvSpPr>
          <p:cNvPr id="1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9F16A15-90CA-499D-9F22-4C22F6C9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2611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5"/>
          </a:solidFill>
          <a:ln xmlns:a="http://schemas.openxmlformats.org/drawingml/2006/main" w="0">
            <a:solidFill>
              <a:srgbClr val="D2C4A5"/>
            </a:solidFill>
            <a:prstDash val="solid"/>
          </a:ln>
        </p:spPr>
      </p:sp>
      <p:sp>
        <p:nvSpPr>
          <p:cNvPr id="11" name="source-rail">
            <a:extLst xmlns:a="http://schemas.openxmlformats.org/drawingml/2006/main">
              <a:ext uri="{FF2B5EF4-FFF2-40B4-BE49-F238E27FC236}">
                <a16:creationId xmlns:a16="http://schemas.microsoft.com/office/drawing/2014/main" id="{1E5C1253-C090-424B-953E-FD5B272F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9486900"/>
            <a:ext cx="39433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927F"/>
                </a:solidFill>
              </a:defRPr>
            </a:pPr>
            <a:r>
              <a:rPr sz="975">
                <a:solidFill>
                  <a:srgbClr val="8C927F"/>
                </a:solidFill>
              </a:rPr>
              <a:t>Sources: report/historical_text_trends.md. *2026 is partial local sample.</a:t>
            </a:r>
          </a:p>
        </p:txBody>
      </p:sp>
    </p:spTree>
    <p:extLst>
      <p:ext uri="{BB962C8B-B14F-4D97-AF65-F5344CB8AC3E}">
        <p14:creationId xmlns:p14="http://schemas.microsoft.com/office/powerpoint/2010/main" val="14404658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7-background">
            <a:extLst xmlns:a="http://schemas.openxmlformats.org/drawingml/2006/main">
              <a:ext uri="{FF2B5EF4-FFF2-40B4-BE49-F238E27FC236}">
                <a16:creationId xmlns:a16="http://schemas.microsoft.com/office/drawing/2014/main" id="{61A5EA7E-8462-4BBB-92ED-094F8A2A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D9"/>
          </a:solidFill>
          <a:ln xmlns:a="http://schemas.openxmlformats.org/drawingml/2006/main" w="0">
            <a:solidFill>
              <a:srgbClr val="F4ECD9"/>
            </a:solidFill>
            <a:prstDash val="solid"/>
          </a:ln>
        </p:spPr>
      </p:sp>
      <p:sp>
        <p:nvSpPr>
          <p:cNvPr id="2" name="slide-7-eyebrow">
            <a:extLst xmlns:a="http://schemas.openxmlformats.org/drawingml/2006/main">
              <a:ext uri="{FF2B5EF4-FFF2-40B4-BE49-F238E27FC236}">
                <a16:creationId xmlns:a16="http://schemas.microsoft.com/office/drawing/2014/main" id="{6A52152A-081F-4EDD-B9D8-F218061C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6858"/>
                </a:solidFill>
              </a:defRPr>
            </a:pPr>
            <a:r>
              <a:rPr sz="1650" b="1">
                <a:solidFill>
                  <a:srgbClr val="2F6858"/>
                </a:solidFill>
              </a:rPr>
              <a:t>DECOMPOSITION</a:t>
            </a:r>
          </a:p>
        </p:txBody>
      </p:sp>
      <p:sp>
        <p:nvSpPr>
          <p:cNvPr id="3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F1B2DE98-8B29-4532-AB7C-8113C99C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25730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201B"/>
                </a:solidFill>
              </a:defRPr>
            </a:pPr>
            <a:r>
              <a:rPr sz="4650" b="1">
                <a:solidFill>
                  <a:srgbClr val="17201B"/>
                </a:solidFill>
              </a:rPr>
              <a:t>The four views are related, but not redundant</a:t>
            </a:r>
          </a:p>
        </p:txBody>
      </p:sp>
      <p:sp>
        <p:nvSpPr>
          <p:cNvPr id="4" name="slide-7-subtitle">
            <a:extLst xmlns:a="http://schemas.openxmlformats.org/drawingml/2006/main">
              <a:ext uri="{FF2B5EF4-FFF2-40B4-BE49-F238E27FC236}">
                <a16:creationId xmlns:a16="http://schemas.microsoft.com/office/drawing/2014/main" id="{947B5489-7EF4-4DE9-A3A5-65ED4F0C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257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67166"/>
                </a:solidFill>
              </a:defRPr>
            </a:pPr>
            <a:r>
              <a:rPr sz="1875">
                <a:solidFill>
                  <a:srgbClr val="667166"/>
                </a:solidFill>
              </a:rPr>
              <a:t>Cross-view NMI is low enough to support the framework: each view organizes the universe differently.</a:t>
            </a:r>
          </a:p>
        </p:txBody>
      </p:sp>
      <p:sp>
        <p:nvSpPr>
          <p:cNvPr id="5" name="table-head-0">
            <a:extLst xmlns:a="http://schemas.openxmlformats.org/drawingml/2006/main">
              <a:ext uri="{FF2B5EF4-FFF2-40B4-BE49-F238E27FC236}">
                <a16:creationId xmlns:a16="http://schemas.microsoft.com/office/drawing/2014/main" id="{6D62B7CD-A09A-4BD5-8C18-29C0EBECF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44767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715"/>
          </a:solidFill>
          <a:ln xmlns:a="http://schemas.openxmlformats.org/drawingml/2006/main" w="0">
            <a:solidFill>
              <a:srgbClr val="10171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6E842C-329C-4314-A111-BDCE5C26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4286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8E8"/>
                </a:solidFill>
              </a:defRPr>
            </a:pPr>
            <a:r>
              <a:rPr sz="1275" b="1">
                <a:solidFill>
                  <a:srgbClr val="FFF8E8"/>
                </a:solidFill>
              </a:rPr>
              <a:t>View pair</a:t>
            </a:r>
          </a:p>
        </p:txBody>
      </p:sp>
      <p:sp>
        <p:nvSpPr>
          <p:cNvPr id="7" name="table-head-1">
            <a:extLst xmlns:a="http://schemas.openxmlformats.org/drawingml/2006/main">
              <a:ext uri="{FF2B5EF4-FFF2-40B4-BE49-F238E27FC236}">
                <a16:creationId xmlns:a16="http://schemas.microsoft.com/office/drawing/2014/main" id="{36380D99-E7E6-4BBC-A7C0-40201DD4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38425"/>
            <a:ext cx="13335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715"/>
          </a:solidFill>
          <a:ln xmlns:a="http://schemas.openxmlformats.org/drawingml/2006/main" w="0">
            <a:solidFill>
              <a:srgbClr val="10171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023E7A-1B85-427C-963A-CE66F69A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114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8E8"/>
                </a:solidFill>
              </a:defRPr>
            </a:pPr>
            <a:r>
              <a:rPr sz="1275" b="1">
                <a:solidFill>
                  <a:srgbClr val="FFF8E8"/>
                </a:solidFill>
              </a:rPr>
              <a:t>NMI</a:t>
            </a:r>
          </a:p>
        </p:txBody>
      </p:sp>
      <p:sp>
        <p:nvSpPr>
          <p:cNvPr id="9" name="table-cell-0-0">
            <a:extLst xmlns:a="http://schemas.openxmlformats.org/drawingml/2006/main">
              <a:ext uri="{FF2B5EF4-FFF2-40B4-BE49-F238E27FC236}">
                <a16:creationId xmlns:a16="http://schemas.microsoft.com/office/drawing/2014/main" id="{31ED7F23-B26D-4E49-8898-24AC2E0B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4476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AF86C-0CF5-4B20-8687-A08CC467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428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Behavioral / Business</a:t>
            </a:r>
          </a:p>
        </p:txBody>
      </p:sp>
      <p:sp>
        <p:nvSpPr>
          <p:cNvPr id="11" name="table-cell-0-1">
            <a:extLst xmlns:a="http://schemas.openxmlformats.org/drawingml/2006/main">
              <a:ext uri="{FF2B5EF4-FFF2-40B4-BE49-F238E27FC236}">
                <a16:creationId xmlns:a16="http://schemas.microsoft.com/office/drawing/2014/main" id="{40B5BE16-C2DA-4823-8D71-027A40F7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95625"/>
            <a:ext cx="1333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CB13B-E863-4A7D-B8D7-CC855763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8135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0.312</a:t>
            </a:r>
          </a:p>
        </p:txBody>
      </p:sp>
      <p:sp>
        <p:nvSpPr>
          <p:cNvPr id="13" name="table-cell-1-0">
            <a:extLst xmlns:a="http://schemas.openxmlformats.org/drawingml/2006/main">
              <a:ext uri="{FF2B5EF4-FFF2-40B4-BE49-F238E27FC236}">
                <a16:creationId xmlns:a16="http://schemas.microsoft.com/office/drawing/2014/main" id="{7CA488A3-1B1B-47F2-8B46-5BA5AB7E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4476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0D681-3A39-4EA7-8A17-2044D846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428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Business / Network</a:t>
            </a:r>
          </a:p>
        </p:txBody>
      </p:sp>
      <p:sp>
        <p:nvSpPr>
          <p:cNvPr id="15" name="table-cell-1-1">
            <a:extLst xmlns:a="http://schemas.openxmlformats.org/drawingml/2006/main">
              <a:ext uri="{FF2B5EF4-FFF2-40B4-BE49-F238E27FC236}">
                <a16:creationId xmlns:a16="http://schemas.microsoft.com/office/drawing/2014/main" id="{8CCED3B8-E951-4E9B-83FC-07863C6A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67125"/>
            <a:ext cx="1333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25F9F5-F2FD-4206-B2C6-52D0D00D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5285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0.302</a:t>
            </a:r>
          </a:p>
        </p:txBody>
      </p:sp>
      <p:sp>
        <p:nvSpPr>
          <p:cNvPr id="17" name="table-cell-2-0">
            <a:extLst xmlns:a="http://schemas.openxmlformats.org/drawingml/2006/main">
              <a:ext uri="{FF2B5EF4-FFF2-40B4-BE49-F238E27FC236}">
                <a16:creationId xmlns:a16="http://schemas.microsoft.com/office/drawing/2014/main" id="{86D85F7E-1A14-47CB-80D6-8A72C487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38625"/>
            <a:ext cx="4476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CA9A55-C95F-4AA5-A060-7A2BA2C0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428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Behavioral / Network</a:t>
            </a:r>
          </a:p>
        </p:txBody>
      </p:sp>
      <p:sp>
        <p:nvSpPr>
          <p:cNvPr id="19" name="table-cell-2-1">
            <a:extLst xmlns:a="http://schemas.openxmlformats.org/drawingml/2006/main">
              <a:ext uri="{FF2B5EF4-FFF2-40B4-BE49-F238E27FC236}">
                <a16:creationId xmlns:a16="http://schemas.microsoft.com/office/drawing/2014/main" id="{3D2B0341-A2D0-4D63-A6E0-1A326EBB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38625"/>
            <a:ext cx="1333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54CBC0-D4CE-422C-BAB5-CD3C0296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32435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0.257</a:t>
            </a:r>
          </a:p>
        </p:txBody>
      </p:sp>
      <p:sp>
        <p:nvSpPr>
          <p:cNvPr id="21" name="table-cell-3-0">
            <a:extLst xmlns:a="http://schemas.openxmlformats.org/drawingml/2006/main">
              <a:ext uri="{FF2B5EF4-FFF2-40B4-BE49-F238E27FC236}">
                <a16:creationId xmlns:a16="http://schemas.microsoft.com/office/drawing/2014/main" id="{F7DDAF1F-18F9-4E9E-95E1-639E13A9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4476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C3B045-E5F2-4C75-B1A0-84EAA5B8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428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Business / Growth</a:t>
            </a:r>
          </a:p>
        </p:txBody>
      </p:sp>
      <p:sp>
        <p:nvSpPr>
          <p:cNvPr id="23" name="table-cell-3-1">
            <a:extLst xmlns:a="http://schemas.openxmlformats.org/drawingml/2006/main">
              <a:ext uri="{FF2B5EF4-FFF2-40B4-BE49-F238E27FC236}">
                <a16:creationId xmlns:a16="http://schemas.microsoft.com/office/drawing/2014/main" id="{81E70700-6953-4E88-8296-87F57BA8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810125"/>
            <a:ext cx="1333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25172-091D-4CDD-8F97-E2E35710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89585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0.214</a:t>
            </a:r>
          </a:p>
        </p:txBody>
      </p:sp>
      <p:sp>
        <p:nvSpPr>
          <p:cNvPr id="25" name="table-cell-4-0">
            <a:extLst xmlns:a="http://schemas.openxmlformats.org/drawingml/2006/main">
              <a:ext uri="{FF2B5EF4-FFF2-40B4-BE49-F238E27FC236}">
                <a16:creationId xmlns:a16="http://schemas.microsoft.com/office/drawing/2014/main" id="{FCEEE76C-E375-4A9C-9F85-DBE08BE2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81625"/>
            <a:ext cx="4476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294EAA-CC2B-4FEB-8E07-9392C0E9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428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Behavioral / Growth</a:t>
            </a:r>
          </a:p>
        </p:txBody>
      </p:sp>
      <p:sp>
        <p:nvSpPr>
          <p:cNvPr id="27" name="table-cell-4-1">
            <a:extLst xmlns:a="http://schemas.openxmlformats.org/drawingml/2006/main">
              <a:ext uri="{FF2B5EF4-FFF2-40B4-BE49-F238E27FC236}">
                <a16:creationId xmlns:a16="http://schemas.microsoft.com/office/drawing/2014/main" id="{47B541E1-6AC0-4D78-B3CB-C5988848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381625"/>
            <a:ext cx="1333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28C462-53F9-4ACD-B16E-385D935A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46735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0.208</a:t>
            </a:r>
          </a:p>
        </p:txBody>
      </p:sp>
      <p:sp>
        <p:nvSpPr>
          <p:cNvPr id="29" name="table-cell-5-0">
            <a:extLst xmlns:a="http://schemas.openxmlformats.org/drawingml/2006/main">
              <a:ext uri="{FF2B5EF4-FFF2-40B4-BE49-F238E27FC236}">
                <a16:creationId xmlns:a16="http://schemas.microsoft.com/office/drawing/2014/main" id="{3E68617D-0496-4ACE-B676-60FB1DF4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53125"/>
            <a:ext cx="447675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BAEC48-04C6-4A82-8358-D8BC73BE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38850"/>
            <a:ext cx="4286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Growth / Network</a:t>
            </a:r>
          </a:p>
        </p:txBody>
      </p:sp>
      <p:sp>
        <p:nvSpPr>
          <p:cNvPr id="31" name="table-cell-5-1">
            <a:extLst xmlns:a="http://schemas.openxmlformats.org/drawingml/2006/main">
              <a:ext uri="{FF2B5EF4-FFF2-40B4-BE49-F238E27FC236}">
                <a16:creationId xmlns:a16="http://schemas.microsoft.com/office/drawing/2014/main" id="{4C302365-1BDD-4C00-9D53-20819317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953125"/>
            <a:ext cx="1333500" cy="5143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16DE17-C1A1-4FF2-A683-1A389162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03885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0.197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B6DC8B-40FC-483D-B2A3-9C5E1A8C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48450"/>
            <a:ext cx="9982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F6858"/>
                </a:solidFill>
              </a:defRPr>
            </a:pPr>
            <a:r>
              <a:rPr sz="1875" b="1">
                <a:solidFill>
                  <a:srgbClr val="2F6858"/>
                </a:solidFill>
              </a:rPr>
              <a:t>Mean off-diagonal NMI: 0.248. Max: 0.312.</a:t>
            </a:r>
          </a:p>
        </p:txBody>
      </p:sp>
      <p:sp>
        <p:nvSpPr>
          <p:cNvPr id="34" name="callout-mark-Behavior">
            <a:extLst xmlns:a="http://schemas.openxmlformats.org/drawingml/2006/main">
              <a:ext uri="{FF2B5EF4-FFF2-40B4-BE49-F238E27FC236}">
                <a16:creationId xmlns:a16="http://schemas.microsoft.com/office/drawing/2014/main" id="{2B5ABB0B-3AB4-4074-A173-F2215EDA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6670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F9D"/>
          </a:solidFill>
          <a:ln xmlns:a="http://schemas.openxmlformats.org/drawingml/2006/main" w="0">
            <a:solidFill>
              <a:srgbClr val="346F9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6FEBE5-1B86-4445-9367-1115B6FB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647950"/>
            <a:ext cx="6210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Behavioral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504431-3564-464E-B862-AD960D07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2952750"/>
            <a:ext cx="6210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Most dynamic; useful as a trading-regime map from 2011 onward.</a:t>
            </a:r>
          </a:p>
        </p:txBody>
      </p:sp>
      <p:sp>
        <p:nvSpPr>
          <p:cNvPr id="37" name="callout-mark-Business">
            <a:extLst xmlns:a="http://schemas.openxmlformats.org/drawingml/2006/main">
              <a:ext uri="{FF2B5EF4-FFF2-40B4-BE49-F238E27FC236}">
                <a16:creationId xmlns:a16="http://schemas.microsoft.com/office/drawing/2014/main" id="{FF25A759-C6D0-4EFD-AA9F-DD4FC492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858"/>
          </a:solidFill>
          <a:ln xmlns:a="http://schemas.openxmlformats.org/drawingml/2006/main" w="0">
            <a:solidFill>
              <a:srgbClr val="2F685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44C812-BD3A-41CE-8814-C177D077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790950"/>
            <a:ext cx="6210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Business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38DC8E-AC45-4421-9C36-2249C4AB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095750"/>
            <a:ext cx="62103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Strongest sector/thematic separation latest, but historical movie needs cleaner PIT text coverage.</a:t>
            </a:r>
          </a:p>
        </p:txBody>
      </p:sp>
      <p:sp>
        <p:nvSpPr>
          <p:cNvPr id="40" name="callout-mark-Growth">
            <a:extLst xmlns:a="http://schemas.openxmlformats.org/drawingml/2006/main">
              <a:ext uri="{FF2B5EF4-FFF2-40B4-BE49-F238E27FC236}">
                <a16:creationId xmlns:a16="http://schemas.microsoft.com/office/drawing/2014/main" id="{DF54AB32-F657-40A1-858C-B0D70738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93E"/>
          </a:solidFill>
          <a:ln xmlns:a="http://schemas.openxmlformats.org/drawingml/2006/main" w="0">
            <a:solidFill>
              <a:srgbClr val="E1A93E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B1311D-CADB-4A51-810A-DF044361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4933950"/>
            <a:ext cx="6210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Growth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EA809F-6DB6-4D2B-BEC5-05D5191A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5238750"/>
            <a:ext cx="6210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Lifecycle-oriented: margins, leverage, payout, valuation, capital intensity.</a:t>
            </a:r>
          </a:p>
        </p:txBody>
      </p:sp>
      <p:sp>
        <p:nvSpPr>
          <p:cNvPr id="43" name="callout-mark-Network">
            <a:extLst xmlns:a="http://schemas.openxmlformats.org/drawingml/2006/main">
              <a:ext uri="{FF2B5EF4-FFF2-40B4-BE49-F238E27FC236}">
                <a16:creationId xmlns:a16="http://schemas.microsoft.com/office/drawing/2014/main" id="{29E7E965-95D9-4EE9-8D79-32C07F81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960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53D"/>
          </a:solidFill>
          <a:ln xmlns:a="http://schemas.openxmlformats.org/drawingml/2006/main" w="0">
            <a:solidFill>
              <a:srgbClr val="C7653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CEF447-F34D-46DE-948B-FAF9A25C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076950"/>
            <a:ext cx="6210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Network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7939521-19DF-44B3-9D8D-B1121F7E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81750"/>
            <a:ext cx="62103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Stable structural map; current graph is static and sparse.</a:t>
            </a:r>
          </a:p>
        </p:txBody>
      </p:sp>
      <p:sp>
        <p:nvSpPr>
          <p:cNvPr id="4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40B9AD8-14E3-4AE7-9C71-F25F4249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1220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5"/>
          </a:solidFill>
          <a:ln xmlns:a="http://schemas.openxmlformats.org/drawingml/2006/main" w="0">
            <a:solidFill>
              <a:srgbClr val="D2C4A5"/>
            </a:solidFill>
            <a:prstDash val="solid"/>
          </a:ln>
        </p:spPr>
      </p:sp>
      <p:sp>
        <p:nvSpPr>
          <p:cNvPr id="47" name="source-rail">
            <a:extLst xmlns:a="http://schemas.openxmlformats.org/drawingml/2006/main">
              <a:ext uri="{FF2B5EF4-FFF2-40B4-BE49-F238E27FC236}">
                <a16:creationId xmlns:a16="http://schemas.microsoft.com/office/drawing/2014/main" id="{B423D64A-7DBA-468B-BE23-77FFC57B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9486900"/>
            <a:ext cx="533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927F"/>
                </a:solidFill>
              </a:defRPr>
            </a:pPr>
            <a:r>
              <a:rPr sz="975">
                <a:solidFill>
                  <a:srgbClr val="8C927F"/>
                </a:solidFill>
              </a:rPr>
              <a:t>Sources: report/decomposed_similarity_results.md; report/view_cluster_dynamics_summary.md.</a:t>
            </a:r>
          </a:p>
        </p:txBody>
      </p:sp>
    </p:spTree>
    <p:extLst>
      <p:ext uri="{BB962C8B-B14F-4D97-AF65-F5344CB8AC3E}">
        <p14:creationId xmlns:p14="http://schemas.microsoft.com/office/powerpoint/2010/main" val="20788863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8-background">
            <a:extLst xmlns:a="http://schemas.openxmlformats.org/drawingml/2006/main">
              <a:ext uri="{FF2B5EF4-FFF2-40B4-BE49-F238E27FC236}">
                <a16:creationId xmlns:a16="http://schemas.microsoft.com/office/drawing/2014/main" id="{14111769-1031-425A-88AF-55186D7D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D9"/>
          </a:solidFill>
          <a:ln xmlns:a="http://schemas.openxmlformats.org/drawingml/2006/main" w="0">
            <a:solidFill>
              <a:srgbClr val="F4ECD9"/>
            </a:solidFill>
            <a:prstDash val="solid"/>
          </a:ln>
        </p:spPr>
      </p:sp>
      <p:sp>
        <p:nvSpPr>
          <p:cNvPr id="2" name="slide-8-eyebrow">
            <a:extLst xmlns:a="http://schemas.openxmlformats.org/drawingml/2006/main">
              <a:ext uri="{FF2B5EF4-FFF2-40B4-BE49-F238E27FC236}">
                <a16:creationId xmlns:a16="http://schemas.microsoft.com/office/drawing/2014/main" id="{9AA2667F-15C9-4504-ACFB-961957B0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6858"/>
                </a:solidFill>
              </a:defRPr>
            </a:pPr>
            <a:r>
              <a:rPr sz="1650" b="1">
                <a:solidFill>
                  <a:srgbClr val="2F6858"/>
                </a:solidFill>
              </a:rPr>
              <a:t>PEERS</a:t>
            </a:r>
          </a:p>
        </p:txBody>
      </p:sp>
      <p:sp>
        <p:nvSpPr>
          <p:cNvPr id="3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EC200495-31DE-491E-9E83-C47988DB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25730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201B"/>
                </a:solidFill>
              </a:defRPr>
            </a:pPr>
            <a:r>
              <a:rPr sz="4650" b="1">
                <a:solidFill>
                  <a:srgbClr val="17201B"/>
                </a:solidFill>
              </a:rPr>
              <a:t>GICS still wins return co-movement, but the horizon pattern is informative</a:t>
            </a:r>
          </a:p>
        </p:txBody>
      </p:sp>
      <p:sp>
        <p:nvSpPr>
          <p:cNvPr id="4" name="slide-8-subtitle">
            <a:extLst xmlns:a="http://schemas.openxmlformats.org/drawingml/2006/main">
              <a:ext uri="{FF2B5EF4-FFF2-40B4-BE49-F238E27FC236}">
                <a16:creationId xmlns:a16="http://schemas.microsoft.com/office/drawing/2014/main" id="{81A39D5D-9246-45B1-A6D1-AF3CC9AA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257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67166"/>
                </a:solidFill>
              </a:defRPr>
            </a:pPr>
            <a:r>
              <a:rPr sz="1875">
                <a:solidFill>
                  <a:srgbClr val="667166"/>
                </a:solidFill>
              </a:rPr>
              <a:t>Business similarity becomes less negative at longer horizons; behavioral similarity is best around medium horizons.</a:t>
            </a:r>
          </a:p>
        </p:txBody>
      </p:sp>
      <p:sp>
        <p:nvSpPr>
          <p:cNvPr id="5" name="peer-horizon-chart-shell">
            <a:extLst xmlns:a="http://schemas.openxmlformats.org/drawingml/2006/main">
              <a:ext uri="{FF2B5EF4-FFF2-40B4-BE49-F238E27FC236}">
                <a16:creationId xmlns:a16="http://schemas.microsoft.com/office/drawing/2014/main" id="{80E8410D-CBAC-441D-91AA-4F04BDE4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38425"/>
            <a:ext cx="10982325" cy="5133975"/>
          </a:xfrm>
          <a:prstGeom xmlns:a="http://schemas.openxmlformats.org/drawingml/2006/main" prst="roundRect">
            <a:avLst>
              <a:gd name="adj" fmla="val 1484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2C4A5"/>
            </a:solidFill>
            <a:prstDash val="solid"/>
          </a:ln>
        </p:spPr>
      </p:sp>
      <p:graphicFrame>
        <p:nvGraphicFramePr>
          <p:cNvPr id="6" name="peer-horizon-chart"/>
          <p:cNvGraphicFramePr/>
          <p:nvPr/>
        </p:nvGraphicFramePr>
        <p:xfrm>
          <a:off xmlns:a="http://schemas.openxmlformats.org/drawingml/2006/main" x="952500" y="2790825"/>
          <a:ext xmlns:a="http://schemas.openxmlformats.org/drawingml/2006/main" cx="10639425" cy="4829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c5d5f6f3c54c96"/>
          </a:graphicData>
        </a:graphic>
      </p:graphicFrame>
      <p:sp>
        <p:nvSpPr>
          <p:cNvPr id="7" name="callout-mark-Do not o">
            <a:extLst xmlns:a="http://schemas.openxmlformats.org/drawingml/2006/main">
              <a:ext uri="{FF2B5EF4-FFF2-40B4-BE49-F238E27FC236}">
                <a16:creationId xmlns:a16="http://schemas.microsoft.com/office/drawing/2014/main" id="{C038B3F1-EE0B-4312-9544-5A00FAA2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6670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B48"/>
          </a:solidFill>
          <a:ln xmlns:a="http://schemas.openxmlformats.org/drawingml/2006/main" w="0">
            <a:solidFill>
              <a:srgbClr val="B94B4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F49CB3-CCB9-419B-A7E7-E55C35E0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647950"/>
            <a:ext cx="521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Do not oversell this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F6869-C0E9-4BFA-A969-F19C269A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952750"/>
            <a:ext cx="5219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Embedding peers do not beat GICS sub-industry peers on return correlation.</a:t>
            </a:r>
          </a:p>
        </p:txBody>
      </p:sp>
      <p:sp>
        <p:nvSpPr>
          <p:cNvPr id="10" name="callout-mark-But it t">
            <a:extLst xmlns:a="http://schemas.openxmlformats.org/drawingml/2006/main">
              <a:ext uri="{FF2B5EF4-FFF2-40B4-BE49-F238E27FC236}">
                <a16:creationId xmlns:a16="http://schemas.microsoft.com/office/drawing/2014/main" id="{BCDA476B-E6F2-4C03-B0F6-0B408C1E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38100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858"/>
          </a:solidFill>
          <a:ln xmlns:a="http://schemas.openxmlformats.org/drawingml/2006/main" w="0">
            <a:solidFill>
              <a:srgbClr val="2F68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25658-A064-48C1-AFF1-282AA77D7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810000"/>
            <a:ext cx="521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But it tells a 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36A5C-C45C-4AA2-8DF7-E6315A29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4114800"/>
            <a:ext cx="5219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Text peers capture structural similarity; price peers capture behavioral co-movement.</a:t>
            </a:r>
          </a:p>
        </p:txBody>
      </p:sp>
      <p:sp>
        <p:nvSpPr>
          <p:cNvPr id="13" name="callout-mark-Next tes">
            <a:extLst xmlns:a="http://schemas.openxmlformats.org/drawingml/2006/main">
              <a:ext uri="{FF2B5EF4-FFF2-40B4-BE49-F238E27FC236}">
                <a16:creationId xmlns:a16="http://schemas.microsoft.com/office/drawing/2014/main" id="{82E5FF97-618E-477B-8826-C732FA7C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9530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F9D"/>
          </a:solidFill>
          <a:ln xmlns:a="http://schemas.openxmlformats.org/drawingml/2006/main" w="0">
            <a:solidFill>
              <a:srgbClr val="346F9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468B6-C58A-4B48-9F4B-086F7523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4972050"/>
            <a:ext cx="521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Next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5CCAFA-1F6A-429C-A762-790465A2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5276850"/>
            <a:ext cx="5219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Longer horizons, filing-date windows, and event-aware 8-K features should be the sharper tests.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49DD4B7-5968-45F6-9A63-6817ACF5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774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5"/>
          </a:solidFill>
          <a:ln xmlns:a="http://schemas.openxmlformats.org/drawingml/2006/main" w="0">
            <a:solidFill>
              <a:srgbClr val="D2C4A5"/>
            </a:solidFill>
            <a:prstDash val="solid"/>
          </a:ln>
        </p:spPr>
      </p:sp>
      <p:sp>
        <p:nvSpPr>
          <p:cNvPr id="17" name="source-rail">
            <a:extLst xmlns:a="http://schemas.openxmlformats.org/drawingml/2006/main">
              <a:ext uri="{FF2B5EF4-FFF2-40B4-BE49-F238E27FC236}">
                <a16:creationId xmlns:a16="http://schemas.microsoft.com/office/drawing/2014/main" id="{123939AA-87F0-4C39-8EED-A022968B1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9620250"/>
            <a:ext cx="550545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927F"/>
                </a:solidFill>
              </a:defRPr>
            </a:pPr>
            <a:r>
              <a:rPr sz="975">
                <a:solidFill>
                  <a:srgbClr val="8C927F"/>
                </a:solidFill>
              </a:rPr>
              <a:t>Sources: report/current_implementation_and_results.md; report/decomposed_similarity_results.md.</a:t>
            </a:r>
          </a:p>
        </p:txBody>
      </p:sp>
    </p:spTree>
    <p:extLst>
      <p:ext uri="{BB962C8B-B14F-4D97-AF65-F5344CB8AC3E}">
        <p14:creationId xmlns:p14="http://schemas.microsoft.com/office/powerpoint/2010/main" val="9933622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9-background">
            <a:extLst xmlns:a="http://schemas.openxmlformats.org/drawingml/2006/main">
              <a:ext uri="{FF2B5EF4-FFF2-40B4-BE49-F238E27FC236}">
                <a16:creationId xmlns:a16="http://schemas.microsoft.com/office/drawing/2014/main" id="{330C8CDA-507A-47A4-BBFF-7DD1F4A1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D9"/>
          </a:solidFill>
          <a:ln xmlns:a="http://schemas.openxmlformats.org/drawingml/2006/main" w="0">
            <a:solidFill>
              <a:srgbClr val="F4ECD9"/>
            </a:solidFill>
            <a:prstDash val="solid"/>
          </a:ln>
        </p:spPr>
      </p:sp>
      <p:sp>
        <p:nvSpPr>
          <p:cNvPr id="2" name="slide-9-eyebrow">
            <a:extLst xmlns:a="http://schemas.openxmlformats.org/drawingml/2006/main">
              <a:ext uri="{FF2B5EF4-FFF2-40B4-BE49-F238E27FC236}">
                <a16:creationId xmlns:a16="http://schemas.microsoft.com/office/drawing/2014/main" id="{AA049D07-75AA-4D50-B24E-18AA7F91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6858"/>
                </a:solidFill>
              </a:defRPr>
            </a:pPr>
            <a:r>
              <a:rPr sz="1650" b="1">
                <a:solidFill>
                  <a:srgbClr val="2F6858"/>
                </a:solidFill>
              </a:rPr>
              <a:t>COVARIANCE</a:t>
            </a:r>
          </a:p>
        </p:txBody>
      </p:sp>
      <p:sp>
        <p:nvSpPr>
          <p:cNvPr id="3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CEE4BC36-C33F-4EA9-B654-2D333F44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25730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201B"/>
                </a:solidFill>
              </a:defRPr>
            </a:pPr>
            <a:r>
              <a:rPr sz="4650" b="1">
                <a:solidFill>
                  <a:srgbClr val="17201B"/>
                </a:solidFill>
              </a:rPr>
              <a:t>Ledoit-Wolf remains the full-universe benchmark</a:t>
            </a:r>
          </a:p>
        </p:txBody>
      </p:sp>
      <p:sp>
        <p:nvSpPr>
          <p:cNvPr id="4" name="slide-9-subtitle">
            <a:extLst xmlns:a="http://schemas.openxmlformats.org/drawingml/2006/main">
              <a:ext uri="{FF2B5EF4-FFF2-40B4-BE49-F238E27FC236}">
                <a16:creationId xmlns:a16="http://schemas.microsoft.com/office/drawing/2014/main" id="{8A2797CB-2B58-4D57-8990-DEB711C9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2573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67166"/>
                </a:solidFill>
              </a:defRPr>
            </a:pPr>
            <a:r>
              <a:rPr sz="1875">
                <a:solidFill>
                  <a:srgbClr val="667166"/>
                </a:solidFill>
              </a:rPr>
              <a:t>The direct multi-view factor covariance model is a clean negative result. That is useful: it tells us not to replace the statistical baseline wholesale.</a:t>
            </a:r>
          </a:p>
        </p:txBody>
      </p:sp>
      <p:sp>
        <p:nvSpPr>
          <p:cNvPr id="5" name="covariance-chart-shell">
            <a:extLst xmlns:a="http://schemas.openxmlformats.org/drawingml/2006/main">
              <a:ext uri="{FF2B5EF4-FFF2-40B4-BE49-F238E27FC236}">
                <a16:creationId xmlns:a16="http://schemas.microsoft.com/office/drawing/2014/main" id="{7ABFC724-BA44-4D13-95CE-464D8524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10982325" cy="5133975"/>
          </a:xfrm>
          <a:prstGeom xmlns:a="http://schemas.openxmlformats.org/drawingml/2006/main" prst="roundRect">
            <a:avLst>
              <a:gd name="adj" fmla="val 1484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2C4A5"/>
            </a:solidFill>
            <a:prstDash val="solid"/>
          </a:ln>
        </p:spPr>
      </p:sp>
      <p:graphicFrame>
        <p:nvGraphicFramePr>
          <p:cNvPr id="6" name="covariance-chart"/>
          <p:cNvGraphicFramePr/>
          <p:nvPr/>
        </p:nvGraphicFramePr>
        <p:xfrm>
          <a:off xmlns:a="http://schemas.openxmlformats.org/drawingml/2006/main" x="952500" y="3028950"/>
          <a:ext xmlns:a="http://schemas.openxmlformats.org/drawingml/2006/main" cx="10639425" cy="48291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9caf00deff494d"/>
          </a:graphicData>
        </a:graphic>
      </p:graphicFrame>
      <p:sp>
        <p:nvSpPr>
          <p:cNvPr id="7" name="callout-mark-Full uni">
            <a:extLst xmlns:a="http://schemas.openxmlformats.org/drawingml/2006/main">
              <a:ext uri="{FF2B5EF4-FFF2-40B4-BE49-F238E27FC236}">
                <a16:creationId xmlns:a16="http://schemas.microsoft.com/office/drawing/2014/main" id="{1DF8202D-0658-4D92-A804-4C02EC13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8956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B48"/>
          </a:solidFill>
          <a:ln xmlns:a="http://schemas.openxmlformats.org/drawingml/2006/main" w="0">
            <a:solidFill>
              <a:srgbClr val="B94B4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32684-8C11-41BE-BF4F-4DEB1B51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876550"/>
            <a:ext cx="521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Full universe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B6654-F5E3-4879-9C32-4478E930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200400"/>
            <a:ext cx="5219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Multi-view annual variance: 0.01522 vs Ledoit-Wolf 0.00963.</a:t>
            </a:r>
          </a:p>
        </p:txBody>
      </p:sp>
      <p:sp>
        <p:nvSpPr>
          <p:cNvPr id="10" name="callout-mark-Slice re">
            <a:extLst xmlns:a="http://schemas.openxmlformats.org/drawingml/2006/main">
              <a:ext uri="{FF2B5EF4-FFF2-40B4-BE49-F238E27FC236}">
                <a16:creationId xmlns:a16="http://schemas.microsoft.com/office/drawing/2014/main" id="{9A44086C-0313-4193-9B68-BEE65058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0386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93E"/>
          </a:solidFill>
          <a:ln xmlns:a="http://schemas.openxmlformats.org/drawingml/2006/main" w="0">
            <a:solidFill>
              <a:srgbClr val="E1A93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DD76B-0D34-4DBB-B80C-96EB77DB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4038600"/>
            <a:ext cx="521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Slice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3976C-75FE-4126-BB0C-E35E5083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4362450"/>
            <a:ext cx="5219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Single-view embedding prior won Health Care, mid-liquidity, and Consumer Discretionary slices.</a:t>
            </a:r>
          </a:p>
        </p:txBody>
      </p:sp>
      <p:sp>
        <p:nvSpPr>
          <p:cNvPr id="13" name="callout-mark-Implicat">
            <a:extLst xmlns:a="http://schemas.openxmlformats.org/drawingml/2006/main">
              <a:ext uri="{FF2B5EF4-FFF2-40B4-BE49-F238E27FC236}">
                <a16:creationId xmlns:a16="http://schemas.microsoft.com/office/drawing/2014/main" id="{41A28D5B-5314-4BE6-BD48-42054B60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51816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858"/>
          </a:solidFill>
          <a:ln xmlns:a="http://schemas.openxmlformats.org/drawingml/2006/main" w="0">
            <a:solidFill>
              <a:srgbClr val="2F68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C7C75A-A67C-472E-8D18-F14DD1AB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5200650"/>
            <a:ext cx="5219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Implication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37AFD5-0053-4D6F-A0C8-5279ECFD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5524500"/>
            <a:ext cx="52197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Use Ledoit-Wolf as base; route or blend embedding signals only where they repeatedly help.</a:t>
            </a:r>
          </a:p>
        </p:txBody>
      </p:sp>
      <p:sp>
        <p:nvSpPr>
          <p:cNvPr id="16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152D70A-6EC8-48D2-9E34-0FD99DC1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5"/>
          </a:solidFill>
          <a:ln xmlns:a="http://schemas.openxmlformats.org/drawingml/2006/main" w="0">
            <a:solidFill>
              <a:srgbClr val="D2C4A5"/>
            </a:solidFill>
            <a:prstDash val="solid"/>
          </a:ln>
        </p:spPr>
      </p:sp>
      <p:sp>
        <p:nvSpPr>
          <p:cNvPr id="17" name="source-rail">
            <a:extLst xmlns:a="http://schemas.openxmlformats.org/drawingml/2006/main">
              <a:ext uri="{FF2B5EF4-FFF2-40B4-BE49-F238E27FC236}">
                <a16:creationId xmlns:a16="http://schemas.microsoft.com/office/drawing/2014/main" id="{F2464F95-DF4A-4FB3-B18B-069D0C21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9486900"/>
            <a:ext cx="5410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927F"/>
                </a:solidFill>
              </a:defRPr>
            </a:pPr>
            <a:r>
              <a:rPr sz="975">
                <a:solidFill>
                  <a:srgbClr val="8C927F"/>
                </a:solidFill>
              </a:rPr>
              <a:t>Sources: report/multiview_covariance_results.md; report/current_implementation_and_results.md.</a:t>
            </a:r>
          </a:p>
        </p:txBody>
      </p:sp>
    </p:spTree>
    <p:extLst>
      <p:ext uri="{BB962C8B-B14F-4D97-AF65-F5344CB8AC3E}">
        <p14:creationId xmlns:p14="http://schemas.microsoft.com/office/powerpoint/2010/main" val="17434220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0-background">
            <a:extLst xmlns:a="http://schemas.openxmlformats.org/drawingml/2006/main">
              <a:ext uri="{FF2B5EF4-FFF2-40B4-BE49-F238E27FC236}">
                <a16:creationId xmlns:a16="http://schemas.microsoft.com/office/drawing/2014/main" id="{790C16FA-EFC7-44B8-9172-FA23F5B9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D9"/>
          </a:solidFill>
          <a:ln xmlns:a="http://schemas.openxmlformats.org/drawingml/2006/main" w="0">
            <a:solidFill>
              <a:srgbClr val="F4ECD9"/>
            </a:solidFill>
            <a:prstDash val="solid"/>
          </a:ln>
        </p:spPr>
      </p:sp>
      <p:sp>
        <p:nvSpPr>
          <p:cNvPr id="2" name="slide-10-eyebrow">
            <a:extLst xmlns:a="http://schemas.openxmlformats.org/drawingml/2006/main">
              <a:ext uri="{FF2B5EF4-FFF2-40B4-BE49-F238E27FC236}">
                <a16:creationId xmlns:a16="http://schemas.microsoft.com/office/drawing/2014/main" id="{2ED2E07F-B5FC-40D2-A910-505AEA3D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6858"/>
                </a:solidFill>
              </a:defRPr>
            </a:pPr>
            <a:r>
              <a:rPr sz="1650" b="1">
                <a:solidFill>
                  <a:srgbClr val="2F6858"/>
                </a:solidFill>
              </a:rPr>
              <a:t>TEMPORAL AE</a:t>
            </a:r>
          </a:p>
        </p:txBody>
      </p:sp>
      <p:sp>
        <p:nvSpPr>
          <p:cNvPr id="3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207EE65D-E9A1-456F-911C-0CF5F141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25730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201B"/>
                </a:solidFill>
              </a:defRPr>
            </a:pPr>
            <a:r>
              <a:rPr sz="4650" b="1">
                <a:solidFill>
                  <a:srgbClr val="17201B"/>
                </a:solidFill>
              </a:rPr>
              <a:t>Temporal smoothing cleans trajectories, not events</a:t>
            </a:r>
          </a:p>
        </p:txBody>
      </p:sp>
      <p:sp>
        <p:nvSpPr>
          <p:cNvPr id="4" name="slide-10-subtitle">
            <a:extLst xmlns:a="http://schemas.openxmlformats.org/drawingml/2006/main">
              <a:ext uri="{FF2B5EF4-FFF2-40B4-BE49-F238E27FC236}">
                <a16:creationId xmlns:a16="http://schemas.microsoft.com/office/drawing/2014/main" id="{81F9D585-3534-4F43-9C82-CFAEB33C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2573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67166"/>
                </a:solidFill>
              </a:defRPr>
            </a:pPr>
            <a:r>
              <a:rPr sz="1875">
                <a:solidFill>
                  <a:srgbClr val="667166"/>
                </a:solidFill>
              </a:rPr>
              <a:t>The temporal autoencoder passed stability and preserved semantic structure, but failed the AI-drift and event-alignment bars.</a:t>
            </a:r>
          </a:p>
        </p:txBody>
      </p:sp>
      <p:sp>
        <p:nvSpPr>
          <p:cNvPr id="5" name="table-head-0">
            <a:extLst xmlns:a="http://schemas.openxmlformats.org/drawingml/2006/main">
              <a:ext uri="{FF2B5EF4-FFF2-40B4-BE49-F238E27FC236}">
                <a16:creationId xmlns:a16="http://schemas.microsoft.com/office/drawing/2014/main" id="{C2BDDA50-4293-40F2-8BE2-E92277FE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20955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715"/>
          </a:solidFill>
          <a:ln xmlns:a="http://schemas.openxmlformats.org/drawingml/2006/main" w="0">
            <a:solidFill>
              <a:srgbClr val="10171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15196-C837-4B48-B397-26B310F1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190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8E8"/>
                </a:solidFill>
              </a:defRPr>
            </a:pPr>
            <a:r>
              <a:rPr sz="1275" b="1">
                <a:solidFill>
                  <a:srgbClr val="FFF8E8"/>
                </a:solidFill>
              </a:rPr>
              <a:t>Diagnostic</a:t>
            </a:r>
          </a:p>
        </p:txBody>
      </p:sp>
      <p:sp>
        <p:nvSpPr>
          <p:cNvPr id="7" name="table-head-1">
            <a:extLst xmlns:a="http://schemas.openxmlformats.org/drawingml/2006/main">
              <a:ext uri="{FF2B5EF4-FFF2-40B4-BE49-F238E27FC236}">
                <a16:creationId xmlns:a16="http://schemas.microsoft.com/office/drawing/2014/main" id="{F4DB686B-9316-444C-B20C-B2FC788B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76550"/>
            <a:ext cx="12382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715"/>
          </a:solidFill>
          <a:ln xmlns:a="http://schemas.openxmlformats.org/drawingml/2006/main" w="0">
            <a:solidFill>
              <a:srgbClr val="10171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93973-3196-468B-A667-77BF8EF3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52750"/>
            <a:ext cx="10477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8E8"/>
                </a:solidFill>
              </a:defRPr>
            </a:pPr>
            <a:r>
              <a:rPr sz="1275" b="1">
                <a:solidFill>
                  <a:srgbClr val="FFF8E8"/>
                </a:solidFill>
              </a:rPr>
              <a:t>Result</a:t>
            </a:r>
          </a:p>
        </p:txBody>
      </p:sp>
      <p:sp>
        <p:nvSpPr>
          <p:cNvPr id="9" name="table-head-2">
            <a:extLst xmlns:a="http://schemas.openxmlformats.org/drawingml/2006/main">
              <a:ext uri="{FF2B5EF4-FFF2-40B4-BE49-F238E27FC236}">
                <a16:creationId xmlns:a16="http://schemas.microsoft.com/office/drawing/2014/main" id="{E0CAC1A1-0D9A-457E-9838-8AA3A2EB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76550"/>
            <a:ext cx="40957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715"/>
          </a:solidFill>
          <a:ln xmlns:a="http://schemas.openxmlformats.org/drawingml/2006/main" w="0">
            <a:solidFill>
              <a:srgbClr val="10171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5040E-F6B8-46DF-BB39-5D1F91FD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52750"/>
            <a:ext cx="3905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8E8"/>
                </a:solidFill>
              </a:defRPr>
            </a:pPr>
            <a:r>
              <a:rPr sz="1275" b="1">
                <a:solidFill>
                  <a:srgbClr val="FFF8E8"/>
                </a:solidFill>
              </a:rPr>
              <a:t>Read</a:t>
            </a:r>
          </a:p>
        </p:txBody>
      </p:sp>
      <p:sp>
        <p:nvSpPr>
          <p:cNvPr id="11" name="table-cell-0-0">
            <a:extLst xmlns:a="http://schemas.openxmlformats.org/drawingml/2006/main">
              <a:ext uri="{FF2B5EF4-FFF2-40B4-BE49-F238E27FC236}">
                <a16:creationId xmlns:a16="http://schemas.microsoft.com/office/drawing/2014/main" id="{5E03B826-9877-497C-B60B-6BA90F64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09550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F13F4-CD12-49BE-86E7-1F087BD8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Stability</a:t>
            </a:r>
          </a:p>
        </p:txBody>
      </p:sp>
      <p:sp>
        <p:nvSpPr>
          <p:cNvPr id="13" name="table-cell-0-1">
            <a:extLst xmlns:a="http://schemas.openxmlformats.org/drawingml/2006/main">
              <a:ext uri="{FF2B5EF4-FFF2-40B4-BE49-F238E27FC236}">
                <a16:creationId xmlns:a16="http://schemas.microsoft.com/office/drawing/2014/main" id="{FA5A3E75-94FC-469C-AEAA-653187F3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33750"/>
            <a:ext cx="123825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EB264-6096-4600-816D-91D80B32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099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PASS</a:t>
            </a:r>
          </a:p>
        </p:txBody>
      </p:sp>
      <p:sp>
        <p:nvSpPr>
          <p:cNvPr id="15" name="table-cell-0-2">
            <a:extLst xmlns:a="http://schemas.openxmlformats.org/drawingml/2006/main">
              <a:ext uri="{FF2B5EF4-FFF2-40B4-BE49-F238E27FC236}">
                <a16:creationId xmlns:a16="http://schemas.microsoft.com/office/drawing/2014/main" id="{498F2BF2-5DED-4CB9-95AF-B224BAFE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33750"/>
            <a:ext cx="409575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8933D-81C9-48DF-894A-BDE3BF6F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09950"/>
            <a:ext cx="3905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stable firms move less</a:t>
            </a:r>
          </a:p>
        </p:txBody>
      </p:sp>
      <p:sp>
        <p:nvSpPr>
          <p:cNvPr id="17" name="table-cell-1-0">
            <a:extLst xmlns:a="http://schemas.openxmlformats.org/drawingml/2006/main">
              <a:ext uri="{FF2B5EF4-FFF2-40B4-BE49-F238E27FC236}">
                <a16:creationId xmlns:a16="http://schemas.microsoft.com/office/drawing/2014/main" id="{482F97AB-B0B0-4CD2-AD55-D4E542A2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209550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C21EEF-BEA2-4461-BDA1-6D07120F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NMI preservation</a:t>
            </a:r>
          </a:p>
        </p:txBody>
      </p:sp>
      <p:sp>
        <p:nvSpPr>
          <p:cNvPr id="19" name="table-cell-1-1">
            <a:extLst xmlns:a="http://schemas.openxmlformats.org/drawingml/2006/main">
              <a:ext uri="{FF2B5EF4-FFF2-40B4-BE49-F238E27FC236}">
                <a16:creationId xmlns:a16="http://schemas.microsoft.com/office/drawing/2014/main" id="{5439948D-8FF9-4A47-8A2F-447CCE65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981450"/>
            <a:ext cx="123825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59C00A-15AC-4E4B-8059-C19EF7D1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576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PASS</a:t>
            </a:r>
          </a:p>
        </p:txBody>
      </p:sp>
      <p:sp>
        <p:nvSpPr>
          <p:cNvPr id="21" name="table-cell-1-2">
            <a:extLst xmlns:a="http://schemas.openxmlformats.org/drawingml/2006/main">
              <a:ext uri="{FF2B5EF4-FFF2-40B4-BE49-F238E27FC236}">
                <a16:creationId xmlns:a16="http://schemas.microsoft.com/office/drawing/2014/main" id="{A843CD26-73D1-403E-85F4-1C7CA003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981450"/>
            <a:ext cx="409575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50904F-56C3-43AB-8B75-38992642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57650"/>
            <a:ext cx="3905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cross-sectional structure holds</a:t>
            </a:r>
          </a:p>
        </p:txBody>
      </p:sp>
      <p:sp>
        <p:nvSpPr>
          <p:cNvPr id="23" name="table-cell-2-0">
            <a:extLst xmlns:a="http://schemas.openxmlformats.org/drawingml/2006/main">
              <a:ext uri="{FF2B5EF4-FFF2-40B4-BE49-F238E27FC236}">
                <a16:creationId xmlns:a16="http://schemas.microsoft.com/office/drawing/2014/main" id="{DD3BAFB2-5420-4637-A4E9-FE44A619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209550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5E6024-71D7-4281-B880-CAA9E42D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AI drift</a:t>
            </a:r>
          </a:p>
        </p:txBody>
      </p:sp>
      <p:sp>
        <p:nvSpPr>
          <p:cNvPr id="25" name="table-cell-2-1">
            <a:extLst xmlns:a="http://schemas.openxmlformats.org/drawingml/2006/main">
              <a:ext uri="{FF2B5EF4-FFF2-40B4-BE49-F238E27FC236}">
                <a16:creationId xmlns:a16="http://schemas.microsoft.com/office/drawing/2014/main" id="{86636562-55F6-4798-BA3B-C1899858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629150"/>
            <a:ext cx="123825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8BDC07-645D-429A-8A98-137A1F22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7053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FAIL</a:t>
            </a:r>
          </a:p>
        </p:txBody>
      </p:sp>
      <p:sp>
        <p:nvSpPr>
          <p:cNvPr id="27" name="table-cell-2-2">
            <a:extLst xmlns:a="http://schemas.openxmlformats.org/drawingml/2006/main">
              <a:ext uri="{FF2B5EF4-FFF2-40B4-BE49-F238E27FC236}">
                <a16:creationId xmlns:a16="http://schemas.microsoft.com/office/drawing/2014/main" id="{0DEA5279-20EF-45A6-85DE-1B96EDE1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629150"/>
            <a:ext cx="409575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AC77B6-C192-414E-AD9F-76E192A0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05350"/>
            <a:ext cx="3905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1.5x vs 2x target</a:t>
            </a:r>
          </a:p>
        </p:txBody>
      </p:sp>
      <p:sp>
        <p:nvSpPr>
          <p:cNvPr id="29" name="table-cell-3-0">
            <a:extLst xmlns:a="http://schemas.openxmlformats.org/drawingml/2006/main">
              <a:ext uri="{FF2B5EF4-FFF2-40B4-BE49-F238E27FC236}">
                <a16:creationId xmlns:a16="http://schemas.microsoft.com/office/drawing/2014/main" id="{0A4A8303-80CC-4F4C-B285-1EECD547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209550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A99F0F-7196-4F91-BE6D-8E7D3B28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Event alignment</a:t>
            </a:r>
          </a:p>
        </p:txBody>
      </p:sp>
      <p:sp>
        <p:nvSpPr>
          <p:cNvPr id="31" name="table-cell-3-1">
            <a:extLst xmlns:a="http://schemas.openxmlformats.org/drawingml/2006/main">
              <a:ext uri="{FF2B5EF4-FFF2-40B4-BE49-F238E27FC236}">
                <a16:creationId xmlns:a16="http://schemas.microsoft.com/office/drawing/2014/main" id="{8D04B488-612B-451E-9BB3-1CE6DBB1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276850"/>
            <a:ext cx="123825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B959A7-B4E3-457B-92D8-C01EB3D7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53050"/>
            <a:ext cx="1047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FAIL</a:t>
            </a:r>
          </a:p>
        </p:txBody>
      </p:sp>
      <p:sp>
        <p:nvSpPr>
          <p:cNvPr id="33" name="table-cell-3-2">
            <a:extLst xmlns:a="http://schemas.openxmlformats.org/drawingml/2006/main">
              <a:ext uri="{FF2B5EF4-FFF2-40B4-BE49-F238E27FC236}">
                <a16:creationId xmlns:a16="http://schemas.microsoft.com/office/drawing/2014/main" id="{519ABE96-6517-40DB-AB5D-36FC0D75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276850"/>
            <a:ext cx="4095750" cy="5905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5D9AF5-3528-4A62-AC8B-86BAB88E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353050"/>
            <a:ext cx="3905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0% pass rate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504BD4-D1C4-49ED-AF56-E83C5D1A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02679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7166"/>
                </a:solidFill>
              </a:defRPr>
            </a:pPr>
            <a:r>
              <a:rPr sz="1425">
                <a:solidFill>
                  <a:srgbClr val="667166"/>
                </a:solidFill>
              </a:rPr>
              <a:t>Best sweep candidate: lambda=0.5, alpha=2.0, NMI 0.496, but still no event-alignment success.</a:t>
            </a:r>
          </a:p>
        </p:txBody>
      </p:sp>
      <p:sp>
        <p:nvSpPr>
          <p:cNvPr id="36" name="metric-consecutive-">
            <a:extLst xmlns:a="http://schemas.openxmlformats.org/drawingml/2006/main">
              <a:ext uri="{FF2B5EF4-FFF2-40B4-BE49-F238E27FC236}">
                <a16:creationId xmlns:a16="http://schemas.microsoft.com/office/drawing/2014/main" id="{E5F34F72-5C1A-469A-84EB-00BC274B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2876550"/>
            <a:ext cx="619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2C4A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0454D3-E260-4C3D-9B33-F6E234DD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009900"/>
            <a:ext cx="5772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F6858"/>
                </a:solidFill>
              </a:defRPr>
            </a:pPr>
            <a:r>
              <a:rPr sz="3300" b="1">
                <a:solidFill>
                  <a:srgbClr val="2F6858"/>
                </a:solidFill>
              </a:rPr>
              <a:t>83,549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503BB5-DB96-429B-9589-74B7A988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467100"/>
            <a:ext cx="5772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1B"/>
                </a:solidFill>
              </a:defRPr>
            </a:pPr>
            <a:r>
              <a:rPr sz="1275">
                <a:solidFill>
                  <a:srgbClr val="17201B"/>
                </a:solidFill>
              </a:rPr>
              <a:t>consecutive training pairs</a:t>
            </a:r>
          </a:p>
        </p:txBody>
      </p:sp>
      <p:sp>
        <p:nvSpPr>
          <p:cNvPr id="39" name="metric-within-firm-">
            <a:extLst xmlns:a="http://schemas.openxmlformats.org/drawingml/2006/main">
              <a:ext uri="{FF2B5EF4-FFF2-40B4-BE49-F238E27FC236}">
                <a16:creationId xmlns:a16="http://schemas.microsoft.com/office/drawing/2014/main" id="{8916DA59-A564-4B28-B5EB-1A2DA687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476750"/>
            <a:ext cx="619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2C4A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2E2BD2-6943-48D0-873A-B9216D10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610100"/>
            <a:ext cx="5772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46F9D"/>
                </a:solidFill>
              </a:defRPr>
            </a:pPr>
            <a:r>
              <a:rPr sz="3300" b="1">
                <a:solidFill>
                  <a:srgbClr val="346F9D"/>
                </a:solidFill>
              </a:rPr>
              <a:t>0.408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2AB0A8-3E85-4DE2-A5C6-69D288C7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067300"/>
            <a:ext cx="5772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1B"/>
                </a:solidFill>
              </a:defRPr>
            </a:pPr>
            <a:r>
              <a:rPr sz="1275">
                <a:solidFill>
                  <a:srgbClr val="17201B"/>
                </a:solidFill>
              </a:rPr>
              <a:t>within-firm variance ratio</a:t>
            </a:r>
          </a:p>
        </p:txBody>
      </p:sp>
      <p:sp>
        <p:nvSpPr>
          <p:cNvPr id="42" name="metric-stability-sw">
            <a:extLst xmlns:a="http://schemas.openxmlformats.org/drawingml/2006/main">
              <a:ext uri="{FF2B5EF4-FFF2-40B4-BE49-F238E27FC236}">
                <a16:creationId xmlns:a16="http://schemas.microsoft.com/office/drawing/2014/main" id="{37CA8872-6327-426B-9687-39D5A66D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076950"/>
            <a:ext cx="6191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2C4A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064D8D-4870-49C1-B7FE-CF9F5E96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210300"/>
            <a:ext cx="5772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1A93E"/>
                </a:solidFill>
              </a:defRPr>
            </a:pPr>
            <a:r>
              <a:rPr sz="3300" b="1">
                <a:solidFill>
                  <a:srgbClr val="E1A93E"/>
                </a:solidFill>
              </a:rPr>
              <a:t>15 / 15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A6C0C8-493F-4415-AF11-0A2BE9FB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667500"/>
            <a:ext cx="57721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1B"/>
                </a:solidFill>
              </a:defRPr>
            </a:pPr>
            <a:r>
              <a:rPr sz="1275">
                <a:solidFill>
                  <a:srgbClr val="17201B"/>
                </a:solidFill>
              </a:rPr>
              <a:t>stability sweep passes</a:t>
            </a:r>
          </a:p>
        </p:txBody>
      </p:sp>
      <p:sp>
        <p:nvSpPr>
          <p:cNvPr id="45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4F34A2A-48A0-460D-8CEA-4BCB3D5E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5"/>
          </a:solidFill>
          <a:ln xmlns:a="http://schemas.openxmlformats.org/drawingml/2006/main" w="0">
            <a:solidFill>
              <a:srgbClr val="D2C4A5"/>
            </a:solidFill>
            <a:prstDash val="solid"/>
          </a:ln>
        </p:spPr>
      </p:sp>
      <p:sp>
        <p:nvSpPr>
          <p:cNvPr id="46" name="source-rail">
            <a:extLst xmlns:a="http://schemas.openxmlformats.org/drawingml/2006/main">
              <a:ext uri="{FF2B5EF4-FFF2-40B4-BE49-F238E27FC236}">
                <a16:creationId xmlns:a16="http://schemas.microsoft.com/office/drawing/2014/main" id="{62401555-7A7D-44D2-81FE-F3CB4E3B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9486900"/>
            <a:ext cx="590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927F"/>
                </a:solidFill>
              </a:defRPr>
            </a:pPr>
            <a:r>
              <a:rPr sz="975">
                <a:solidFill>
                  <a:srgbClr val="8C927F"/>
                </a:solidFill>
              </a:rPr>
              <a:t>Sources: report/temporal_autoencoder_results.md; report/temporal_validation/hyperparameter_sweep.md.</a:t>
            </a:r>
          </a:p>
        </p:txBody>
      </p:sp>
    </p:spTree>
    <p:extLst>
      <p:ext uri="{BB962C8B-B14F-4D97-AF65-F5344CB8AC3E}">
        <p14:creationId xmlns:p14="http://schemas.microsoft.com/office/powerpoint/2010/main" val="128076572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1-background">
            <a:extLst xmlns:a="http://schemas.openxmlformats.org/drawingml/2006/main">
              <a:ext uri="{FF2B5EF4-FFF2-40B4-BE49-F238E27FC236}">
                <a16:creationId xmlns:a16="http://schemas.microsoft.com/office/drawing/2014/main" id="{EA7FE096-9E2F-4A1C-ACFB-81C021B4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D9"/>
          </a:solidFill>
          <a:ln xmlns:a="http://schemas.openxmlformats.org/drawingml/2006/main" w="0">
            <a:solidFill>
              <a:srgbClr val="F4ECD9"/>
            </a:solidFill>
            <a:prstDash val="solid"/>
          </a:ln>
        </p:spPr>
      </p:sp>
      <p:sp>
        <p:nvSpPr>
          <p:cNvPr id="2" name="slide-11-eyebrow">
            <a:extLst xmlns:a="http://schemas.openxmlformats.org/drawingml/2006/main">
              <a:ext uri="{FF2B5EF4-FFF2-40B4-BE49-F238E27FC236}">
                <a16:creationId xmlns:a16="http://schemas.microsoft.com/office/drawing/2014/main" id="{7F54829B-3605-45F9-B843-C46DF731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6858"/>
                </a:solidFill>
              </a:defRPr>
            </a:pPr>
            <a:r>
              <a:rPr sz="1650" b="1">
                <a:solidFill>
                  <a:srgbClr val="2F6858"/>
                </a:solidFill>
              </a:rPr>
              <a:t>DASHBOARD</a:t>
            </a:r>
          </a:p>
        </p:txBody>
      </p:sp>
      <p:sp>
        <p:nvSpPr>
          <p:cNvPr id="3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ADE5C9B-C3C4-48E4-85EC-48FB4846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25730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201B"/>
                </a:solidFill>
              </a:defRPr>
            </a:pPr>
            <a:r>
              <a:rPr sz="4650" b="1">
                <a:solidFill>
                  <a:srgbClr val="17201B"/>
                </a:solidFill>
              </a:rPr>
              <a:t>The dashboard has become the project’s discovery surface</a:t>
            </a:r>
          </a:p>
        </p:txBody>
      </p:sp>
      <p:sp>
        <p:nvSpPr>
          <p:cNvPr id="4" name="slide-11-subtitle">
            <a:extLst xmlns:a="http://schemas.openxmlformats.org/drawingml/2006/main">
              <a:ext uri="{FF2B5EF4-FFF2-40B4-BE49-F238E27FC236}">
                <a16:creationId xmlns:a16="http://schemas.microsoft.com/office/drawing/2014/main" id="{BB63FF68-0735-4154-BA3D-2CA6FF2D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2573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67166"/>
                </a:solidFill>
              </a:defRPr>
            </a:pPr>
            <a:r>
              <a:rPr sz="1875">
                <a:solidFill>
                  <a:srgbClr val="667166"/>
                </a:solidFill>
              </a:rPr>
              <a:t>The most useful productized piece is not a backtest result. It is the ability to watch filings, themes, maps, and sector signals evolve interactively.</a:t>
            </a:r>
          </a:p>
        </p:txBody>
      </p:sp>
      <p:sp>
        <p:nvSpPr>
          <p:cNvPr id="5" name="callout-mark-Filing B">
            <a:extLst xmlns:a="http://schemas.openxmlformats.org/drawingml/2006/main">
              <a:ext uri="{FF2B5EF4-FFF2-40B4-BE49-F238E27FC236}">
                <a16:creationId xmlns:a16="http://schemas.microsoft.com/office/drawing/2014/main" id="{F3B2FC30-A153-44A7-9B6E-0248D169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858"/>
          </a:solidFill>
          <a:ln xmlns:a="http://schemas.openxmlformats.org/drawingml/2006/main" w="0">
            <a:solidFill>
              <a:srgbClr val="2F685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1170F-114F-4F03-BEFF-8BF40595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5200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Filing 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DEBD7-8DC1-407C-9607-681FC4E6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browse parsed raw filing sections and source metadata</a:t>
            </a:r>
          </a:p>
        </p:txBody>
      </p:sp>
      <p:sp>
        <p:nvSpPr>
          <p:cNvPr id="8" name="callout-mark-Historic">
            <a:extLst xmlns:a="http://schemas.openxmlformats.org/drawingml/2006/main">
              <a:ext uri="{FF2B5EF4-FFF2-40B4-BE49-F238E27FC236}">
                <a16:creationId xmlns:a16="http://schemas.microsoft.com/office/drawing/2014/main" id="{95D66D69-0E87-43EF-B7EC-45ABDCAB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956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F9D"/>
          </a:solidFill>
          <a:ln xmlns:a="http://schemas.openxmlformats.org/drawingml/2006/main" w="0">
            <a:solidFill>
              <a:srgbClr val="346F9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890A2-F2BD-466F-B9E0-4430AAB7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76550"/>
            <a:ext cx="5200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Historical 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BD8C0-B847-4233-85D4-73B73239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00400"/>
            <a:ext cx="5200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topic trends, semantic drift, company and sector language deltas</a:t>
            </a:r>
          </a:p>
        </p:txBody>
      </p:sp>
      <p:sp>
        <p:nvSpPr>
          <p:cNvPr id="11" name="callout-mark-Similari">
            <a:extLst xmlns:a="http://schemas.openxmlformats.org/drawingml/2006/main">
              <a:ext uri="{FF2B5EF4-FFF2-40B4-BE49-F238E27FC236}">
                <a16:creationId xmlns:a16="http://schemas.microsoft.com/office/drawing/2014/main" id="{390D28E6-A771-473C-B84B-16091C35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28956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93E"/>
          </a:solidFill>
          <a:ln xmlns:a="http://schemas.openxmlformats.org/drawingml/2006/main" w="0">
            <a:solidFill>
              <a:srgbClr val="E1A9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B1AE7-DC37-4050-B472-91BAFCD9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876550"/>
            <a:ext cx="5200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Similarity Shifts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0F5BA-DE31-477D-B4CE-AC0D5BFD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200400"/>
            <a:ext cx="5200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theme loadings, dynamic labels, company movement over time</a:t>
            </a:r>
          </a:p>
        </p:txBody>
      </p:sp>
      <p:sp>
        <p:nvSpPr>
          <p:cNvPr id="14" name="callout-mark-Market M">
            <a:extLst xmlns:a="http://schemas.openxmlformats.org/drawingml/2006/main">
              <a:ext uri="{FF2B5EF4-FFF2-40B4-BE49-F238E27FC236}">
                <a16:creationId xmlns:a16="http://schemas.microsoft.com/office/drawing/2014/main" id="{8C423562-B74B-4F79-B5E1-07292C4E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53D"/>
          </a:solidFill>
          <a:ln xmlns:a="http://schemas.openxmlformats.org/drawingml/2006/main" w="0">
            <a:solidFill>
              <a:srgbClr val="C7653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97C563-A9C8-49D8-BD3F-58B84701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91200"/>
            <a:ext cx="5200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Market Map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20FF2-ED98-49C5-919C-253EE7DE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96000"/>
            <a:ext cx="5200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stocks as 2D points with smooth step-through time controls</a:t>
            </a:r>
          </a:p>
        </p:txBody>
      </p:sp>
      <p:sp>
        <p:nvSpPr>
          <p:cNvPr id="17" name="callout-mark-Sector O">
            <a:extLst xmlns:a="http://schemas.openxmlformats.org/drawingml/2006/main">
              <a:ext uri="{FF2B5EF4-FFF2-40B4-BE49-F238E27FC236}">
                <a16:creationId xmlns:a16="http://schemas.microsoft.com/office/drawing/2014/main" id="{50C88184-0927-475D-BA96-0D6DF09A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912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B6F"/>
          </a:solidFill>
          <a:ln xmlns:a="http://schemas.openxmlformats.org/drawingml/2006/main" w="0">
            <a:solidFill>
              <a:srgbClr val="5B4B6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B30B65-C143-448E-8493-CB148218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791200"/>
            <a:ext cx="5200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Sector Outlook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643E27-0BA6-4E4C-B124-BAB3D6AE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6096000"/>
            <a:ext cx="52006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walk-forward sector excess-return model vs equal-weight S&amp;P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9B390F-F0F0-4BE1-A44F-784B5049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5950" y="5786438"/>
            <a:ext cx="5461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1715"/>
          </a:solidFill>
          <a:ln xmlns:a="http://schemas.openxmlformats.org/drawingml/2006/main" w="0">
            <a:solidFill>
              <a:srgbClr val="10171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9EC8B4-1D5F-4768-A1D6-592B2B7C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6381750"/>
            <a:ext cx="504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EE8A6"/>
                </a:solidFill>
              </a:defRPr>
            </a:pPr>
            <a:r>
              <a:rPr sz="1650" b="1">
                <a:solidFill>
                  <a:srgbClr val="BEE8A6"/>
                </a:solidFill>
              </a:rPr>
              <a:t>Run 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8B5D02-4BFB-4D16-AFCD-334F9D93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6686550"/>
            <a:ext cx="504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FF8E8"/>
                </a:solidFill>
              </a:defRPr>
            </a:pPr>
            <a:r>
              <a:rPr sz="1275">
                <a:solidFill>
                  <a:srgbClr val="FFF8E8"/>
                </a:solidFill>
              </a:rPr>
              <a:t>.venv/bin/streamlit run apps/raw_filing_browser/app.py --server.port 8502</a:t>
            </a:r>
          </a:p>
        </p:txBody>
      </p:sp>
      <p:sp>
        <p:nvSpPr>
          <p:cNvPr id="2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5FEC9DC-2E05-478A-865E-8A8DDE6D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77400"/>
            <a:ext cx="11563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5"/>
          </a:solidFill>
          <a:ln xmlns:a="http://schemas.openxmlformats.org/drawingml/2006/main" w="0">
            <a:solidFill>
              <a:srgbClr val="D2C4A5"/>
            </a:solidFill>
            <a:prstDash val="solid"/>
          </a:ln>
        </p:spPr>
      </p:sp>
      <p:sp>
        <p:nvSpPr>
          <p:cNvPr id="24" name="source-rail">
            <a:extLst xmlns:a="http://schemas.openxmlformats.org/drawingml/2006/main">
              <a:ext uri="{FF2B5EF4-FFF2-40B4-BE49-F238E27FC236}">
                <a16:creationId xmlns:a16="http://schemas.microsoft.com/office/drawing/2014/main" id="{537ACE38-A9CE-4D46-AE37-E72C660F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9620250"/>
            <a:ext cx="4991100" cy="114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927F"/>
                </a:solidFill>
              </a:defRPr>
            </a:pPr>
            <a:r>
              <a:rPr sz="975">
                <a:solidFill>
                  <a:srgbClr val="8C927F"/>
                </a:solidFill>
              </a:rPr>
              <a:t>Sources: apps/raw_filing_browser/app.py; report/current_implementation_and_results.md.</a:t>
            </a:r>
          </a:p>
        </p:txBody>
      </p:sp>
    </p:spTree>
    <p:extLst>
      <p:ext uri="{BB962C8B-B14F-4D97-AF65-F5344CB8AC3E}">
        <p14:creationId xmlns:p14="http://schemas.microsoft.com/office/powerpoint/2010/main" val="86911518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2-background">
            <a:extLst xmlns:a="http://schemas.openxmlformats.org/drawingml/2006/main">
              <a:ext uri="{FF2B5EF4-FFF2-40B4-BE49-F238E27FC236}">
                <a16:creationId xmlns:a16="http://schemas.microsoft.com/office/drawing/2014/main" id="{4ABEDF57-39A0-424C-8A07-FE24EA10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D9"/>
          </a:solidFill>
          <a:ln xmlns:a="http://schemas.openxmlformats.org/drawingml/2006/main" w="0">
            <a:solidFill>
              <a:srgbClr val="F4ECD9"/>
            </a:solidFill>
            <a:prstDash val="solid"/>
          </a:ln>
        </p:spPr>
      </p:sp>
      <p:sp>
        <p:nvSpPr>
          <p:cNvPr id="2" name="slide-12-eyebrow">
            <a:extLst xmlns:a="http://schemas.openxmlformats.org/drawingml/2006/main">
              <a:ext uri="{FF2B5EF4-FFF2-40B4-BE49-F238E27FC236}">
                <a16:creationId xmlns:a16="http://schemas.microsoft.com/office/drawing/2014/main" id="{B99CCDD6-7B1D-4A01-AEF7-755C487C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6858"/>
                </a:solidFill>
              </a:defRPr>
            </a:pPr>
            <a:r>
              <a:rPr sz="1650" b="1">
                <a:solidFill>
                  <a:srgbClr val="2F6858"/>
                </a:solidFill>
              </a:rPr>
              <a:t>SECTOR OUTLOOK</a:t>
            </a:r>
          </a:p>
        </p:txBody>
      </p:sp>
      <p:sp>
        <p:nvSpPr>
          <p:cNvPr id="3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CFB339D5-D576-450B-B967-42EE0C48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25730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201B"/>
                </a:solidFill>
              </a:defRPr>
            </a:pPr>
            <a:r>
              <a:rPr sz="4650" b="1">
                <a:solidFill>
                  <a:srgbClr val="17201B"/>
                </a:solidFill>
              </a:rPr>
              <a:t>A transparent sector-relative model is now in the dashboard</a:t>
            </a:r>
          </a:p>
        </p:txBody>
      </p:sp>
      <p:sp>
        <p:nvSpPr>
          <p:cNvPr id="4" name="slide-12-subtitle">
            <a:extLst xmlns:a="http://schemas.openxmlformats.org/drawingml/2006/main">
              <a:ext uri="{FF2B5EF4-FFF2-40B4-BE49-F238E27FC236}">
                <a16:creationId xmlns:a16="http://schemas.microsoft.com/office/drawing/2014/main" id="{5528D367-6C66-4E59-BA89-C1ED1AE2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2573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67166"/>
                </a:solidFill>
              </a:defRPr>
            </a:pPr>
            <a:r>
              <a:rPr sz="1875">
                <a:solidFill>
                  <a:srgbClr val="667166"/>
                </a:solidFill>
              </a:rPr>
              <a:t>This is a small walk-forward ridge model: price momentum and volatility plus sector-mean valuation/growth signals predict sector excess return versus the equal-weight S&amp;P universe.</a:t>
            </a:r>
          </a:p>
        </p:txBody>
      </p:sp>
      <p:sp>
        <p:nvSpPr>
          <p:cNvPr id="5" name="metric-mean-rank-IC">
            <a:extLst xmlns:a="http://schemas.openxmlformats.org/drawingml/2006/main">
              <a:ext uri="{FF2B5EF4-FFF2-40B4-BE49-F238E27FC236}">
                <a16:creationId xmlns:a16="http://schemas.microsoft.com/office/drawing/2014/main" id="{E43BC3B8-E7B9-4069-A569-50A07165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5715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2C4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3FC63B-105E-4A6C-B3AB-A1D620A2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5295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F6858"/>
                </a:solidFill>
              </a:defRPr>
            </a:pPr>
            <a:r>
              <a:rPr sz="3300" b="1">
                <a:solidFill>
                  <a:srgbClr val="2F6858"/>
                </a:solidFill>
              </a:rPr>
              <a:t>0.132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36AE1-DFD6-414E-ABFD-C94042AC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5295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1B"/>
                </a:solidFill>
              </a:defRPr>
            </a:pPr>
            <a:r>
              <a:rPr sz="1275">
                <a:solidFill>
                  <a:srgbClr val="17201B"/>
                </a:solidFill>
              </a:rPr>
              <a:t>mean rank IC</a:t>
            </a:r>
          </a:p>
        </p:txBody>
      </p:sp>
      <p:sp>
        <p:nvSpPr>
          <p:cNvPr id="8" name="metric-top-minus-bo">
            <a:extLst xmlns:a="http://schemas.openxmlformats.org/drawingml/2006/main">
              <a:ext uri="{FF2B5EF4-FFF2-40B4-BE49-F238E27FC236}">
                <a16:creationId xmlns:a16="http://schemas.microsoft.com/office/drawing/2014/main" id="{D56FE80B-9BFF-40A8-BC8F-3470EC71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5715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2C4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1E17C-7CF3-4905-BCAC-B491AB60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0100"/>
            <a:ext cx="5295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346F9D"/>
                </a:solidFill>
              </a:defRPr>
            </a:pPr>
            <a:r>
              <a:rPr sz="3300" b="1">
                <a:solidFill>
                  <a:srgbClr val="346F9D"/>
                </a:solidFill>
              </a:rPr>
              <a:t>1.41%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40FC2-0D2D-4261-A45C-5565C6A2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5295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1B"/>
                </a:solidFill>
              </a:defRPr>
            </a:pPr>
            <a:r>
              <a:rPr sz="1275">
                <a:solidFill>
                  <a:srgbClr val="17201B"/>
                </a:solidFill>
              </a:rPr>
              <a:t>top-minus-bottom spread</a:t>
            </a:r>
          </a:p>
        </p:txBody>
      </p:sp>
      <p:sp>
        <p:nvSpPr>
          <p:cNvPr id="11" name="metric-top-sector-h">
            <a:extLst xmlns:a="http://schemas.openxmlformats.org/drawingml/2006/main">
              <a:ext uri="{FF2B5EF4-FFF2-40B4-BE49-F238E27FC236}">
                <a16:creationId xmlns:a16="http://schemas.microsoft.com/office/drawing/2014/main" id="{37B3F3F4-A557-4995-92EB-6B918F21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76950"/>
            <a:ext cx="5715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D2C4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235FEB-B0E5-43E4-A299-BFBAC37B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210300"/>
            <a:ext cx="5295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1A93E"/>
                </a:solidFill>
              </a:defRPr>
            </a:pPr>
            <a:r>
              <a:rPr sz="3300" b="1">
                <a:solidFill>
                  <a:srgbClr val="E1A93E"/>
                </a:solidFill>
              </a:rPr>
              <a:t>60.9%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969CC-C038-4629-85D1-DBD0B633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667500"/>
            <a:ext cx="5295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201B"/>
                </a:solidFill>
              </a:defRPr>
            </a:pPr>
            <a:r>
              <a:rPr sz="1275">
                <a:solidFill>
                  <a:srgbClr val="17201B"/>
                </a:solidFill>
              </a:rPr>
              <a:t>top-sector hit rate</a:t>
            </a:r>
          </a:p>
        </p:txBody>
      </p:sp>
      <p:sp>
        <p:nvSpPr>
          <p:cNvPr id="14" name="table-head-0">
            <a:extLst xmlns:a="http://schemas.openxmlformats.org/drawingml/2006/main">
              <a:ext uri="{FF2B5EF4-FFF2-40B4-BE49-F238E27FC236}">
                <a16:creationId xmlns:a16="http://schemas.microsoft.com/office/drawing/2014/main" id="{828348FC-9F49-4BDE-A695-D900AE48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76550"/>
            <a:ext cx="342900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715"/>
          </a:solidFill>
          <a:ln xmlns:a="http://schemas.openxmlformats.org/drawingml/2006/main" w="0">
            <a:solidFill>
              <a:srgbClr val="10171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4E8BF6-7879-4BD4-A881-9C804B48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52750"/>
            <a:ext cx="3238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8E8"/>
                </a:solidFill>
              </a:defRPr>
            </a:pPr>
            <a:r>
              <a:rPr sz="1275" b="1">
                <a:solidFill>
                  <a:srgbClr val="FFF8E8"/>
                </a:solidFill>
              </a:rPr>
              <a:t>Latest top-ranked sectors</a:t>
            </a:r>
          </a:p>
        </p:txBody>
      </p:sp>
      <p:sp>
        <p:nvSpPr>
          <p:cNvPr id="16" name="table-head-1">
            <a:extLst xmlns:a="http://schemas.openxmlformats.org/drawingml/2006/main">
              <a:ext uri="{FF2B5EF4-FFF2-40B4-BE49-F238E27FC236}">
                <a16:creationId xmlns:a16="http://schemas.microsoft.com/office/drawing/2014/main" id="{1A1911A3-C9F3-4FE9-9A5F-81385909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876550"/>
            <a:ext cx="40957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101715"/>
          </a:solidFill>
          <a:ln xmlns:a="http://schemas.openxmlformats.org/drawingml/2006/main" w="0">
            <a:solidFill>
              <a:srgbClr val="10171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BD7830-D8DD-407E-AB0E-00FFE581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952750"/>
            <a:ext cx="3905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8E8"/>
                </a:solidFill>
              </a:defRPr>
            </a:pPr>
            <a:r>
              <a:rPr sz="1275" b="1">
                <a:solidFill>
                  <a:srgbClr val="FFF8E8"/>
                </a:solidFill>
              </a:rPr>
              <a:t>Model read</a:t>
            </a:r>
          </a:p>
        </p:txBody>
      </p:sp>
      <p:sp>
        <p:nvSpPr>
          <p:cNvPr id="18" name="table-cell-0-0">
            <a:extLst xmlns:a="http://schemas.openxmlformats.org/drawingml/2006/main">
              <a:ext uri="{FF2B5EF4-FFF2-40B4-BE49-F238E27FC236}">
                <a16:creationId xmlns:a16="http://schemas.microsoft.com/office/drawing/2014/main" id="{D5E8F623-C6F5-4D9C-B4B6-258BF4A8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342900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54B692-60B2-41C6-8FF7-4DB7E336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9950"/>
            <a:ext cx="3238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Communication Services</a:t>
            </a:r>
          </a:p>
        </p:txBody>
      </p:sp>
      <p:sp>
        <p:nvSpPr>
          <p:cNvPr id="20" name="table-cell-0-1">
            <a:extLst xmlns:a="http://schemas.openxmlformats.org/drawingml/2006/main">
              <a:ext uri="{FF2B5EF4-FFF2-40B4-BE49-F238E27FC236}">
                <a16:creationId xmlns:a16="http://schemas.microsoft.com/office/drawing/2014/main" id="{AC860545-3C92-41D0-9641-8DC8CC25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333750"/>
            <a:ext cx="40957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CFC94E-6781-4837-9CFC-4299BB71F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409950"/>
            <a:ext cx="3905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highest current score</a:t>
            </a:r>
          </a:p>
        </p:txBody>
      </p:sp>
      <p:sp>
        <p:nvSpPr>
          <p:cNvPr id="22" name="table-cell-1-0">
            <a:extLst xmlns:a="http://schemas.openxmlformats.org/drawingml/2006/main">
              <a:ext uri="{FF2B5EF4-FFF2-40B4-BE49-F238E27FC236}">
                <a16:creationId xmlns:a16="http://schemas.microsoft.com/office/drawing/2014/main" id="{29BC5B77-7216-4767-AE34-4FEB4F16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342900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CE4192-FD7F-447A-B3D5-A1696CE4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3238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Financials</a:t>
            </a:r>
          </a:p>
        </p:txBody>
      </p:sp>
      <p:sp>
        <p:nvSpPr>
          <p:cNvPr id="24" name="table-cell-1-1">
            <a:extLst xmlns:a="http://schemas.openxmlformats.org/drawingml/2006/main">
              <a:ext uri="{FF2B5EF4-FFF2-40B4-BE49-F238E27FC236}">
                <a16:creationId xmlns:a16="http://schemas.microsoft.com/office/drawing/2014/main" id="{431ABA4F-A02D-4873-BD2D-2DCD8A16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943350"/>
            <a:ext cx="40957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341BA8-1443-46CA-8FD3-68894737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019550"/>
            <a:ext cx="3905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near top of latest ranking</a:t>
            </a:r>
          </a:p>
        </p:txBody>
      </p:sp>
      <p:sp>
        <p:nvSpPr>
          <p:cNvPr id="26" name="table-cell-2-0">
            <a:extLst xmlns:a="http://schemas.openxmlformats.org/drawingml/2006/main">
              <a:ext uri="{FF2B5EF4-FFF2-40B4-BE49-F238E27FC236}">
                <a16:creationId xmlns:a16="http://schemas.microsoft.com/office/drawing/2014/main" id="{FB9D1AB9-2396-42D7-9E6D-E178FDF1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52950"/>
            <a:ext cx="342900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D814C6-578C-4CF8-896F-1A067A2C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29150"/>
            <a:ext cx="3238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Health Care</a:t>
            </a:r>
          </a:p>
        </p:txBody>
      </p:sp>
      <p:sp>
        <p:nvSpPr>
          <p:cNvPr id="28" name="table-cell-2-1">
            <a:extLst xmlns:a="http://schemas.openxmlformats.org/drawingml/2006/main">
              <a:ext uri="{FF2B5EF4-FFF2-40B4-BE49-F238E27FC236}">
                <a16:creationId xmlns:a16="http://schemas.microsoft.com/office/drawing/2014/main" id="{CB735253-926C-4442-8268-1A3FEA34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4552950"/>
            <a:ext cx="40957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A707D3-815C-4402-80B6-5EE10C36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629150"/>
            <a:ext cx="3905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positive relative outlook</a:t>
            </a:r>
          </a:p>
        </p:txBody>
      </p:sp>
      <p:sp>
        <p:nvSpPr>
          <p:cNvPr id="30" name="table-cell-3-0">
            <a:extLst xmlns:a="http://schemas.openxmlformats.org/drawingml/2006/main">
              <a:ext uri="{FF2B5EF4-FFF2-40B4-BE49-F238E27FC236}">
                <a16:creationId xmlns:a16="http://schemas.microsoft.com/office/drawing/2014/main" id="{D1C339EF-D302-425F-8A12-26599E34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62550"/>
            <a:ext cx="342900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C3F41C-57D0-4994-9421-BBE8533D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38750"/>
            <a:ext cx="3238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Consumer Staples</a:t>
            </a:r>
          </a:p>
        </p:txBody>
      </p:sp>
      <p:sp>
        <p:nvSpPr>
          <p:cNvPr id="32" name="table-cell-3-1">
            <a:extLst xmlns:a="http://schemas.openxmlformats.org/drawingml/2006/main">
              <a:ext uri="{FF2B5EF4-FFF2-40B4-BE49-F238E27FC236}">
                <a16:creationId xmlns:a16="http://schemas.microsoft.com/office/drawing/2014/main" id="{E9A9EDF7-3DFD-42CE-9A7B-BEC1952F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162550"/>
            <a:ext cx="40957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7EEDB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FF6215-2A59-4E91-B33F-45AE2623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238750"/>
            <a:ext cx="3905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defensive + valuation mix</a:t>
            </a:r>
          </a:p>
        </p:txBody>
      </p:sp>
      <p:sp>
        <p:nvSpPr>
          <p:cNvPr id="34" name="table-cell-4-0">
            <a:extLst xmlns:a="http://schemas.openxmlformats.org/drawingml/2006/main">
              <a:ext uri="{FF2B5EF4-FFF2-40B4-BE49-F238E27FC236}">
                <a16:creationId xmlns:a16="http://schemas.microsoft.com/office/drawing/2014/main" id="{12B96C44-D51B-4215-8DF2-840FE60A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72150"/>
            <a:ext cx="342900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5D5E76-6BB8-494F-BADB-5D34C69C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848350"/>
            <a:ext cx="3238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Information Technology</a:t>
            </a:r>
          </a:p>
        </p:txBody>
      </p:sp>
      <p:sp>
        <p:nvSpPr>
          <p:cNvPr id="36" name="table-cell-4-1">
            <a:extLst xmlns:a="http://schemas.openxmlformats.org/drawingml/2006/main">
              <a:ext uri="{FF2B5EF4-FFF2-40B4-BE49-F238E27FC236}">
                <a16:creationId xmlns:a16="http://schemas.microsoft.com/office/drawing/2014/main" id="{0D3B5421-D6FD-4492-8C0C-DA5B3A38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5772150"/>
            <a:ext cx="4095750" cy="55245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E1D3B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EF84CF-3F1F-4B8F-AA44-2811F1E64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848350"/>
            <a:ext cx="3905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201B"/>
                </a:solidFill>
              </a:defRPr>
            </a:pPr>
            <a:r>
              <a:rPr sz="1425">
                <a:solidFill>
                  <a:srgbClr val="17201B"/>
                </a:solidFill>
              </a:rPr>
              <a:t>still top-five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A9F275-2C23-4340-BCAD-698BD179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515100"/>
            <a:ext cx="107442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7166"/>
                </a:solidFill>
              </a:defRPr>
            </a:pPr>
            <a:r>
              <a:rPr sz="1425">
                <a:solidFill>
                  <a:srgbClr val="667166"/>
                </a:solidFill>
              </a:rPr>
              <a:t>Important caveat: valuation coverage is improving, but cash-flow-derived features need a fundamentals refresh before treating fundamentals as fully represented.</a:t>
            </a:r>
          </a:p>
        </p:txBody>
      </p:sp>
      <p:sp>
        <p:nvSpPr>
          <p:cNvPr id="3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85C6AE3-D8B1-44E7-94D7-EF3EAD4B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5"/>
          </a:solidFill>
          <a:ln xmlns:a="http://schemas.openxmlformats.org/drawingml/2006/main" w="0">
            <a:solidFill>
              <a:srgbClr val="D2C4A5"/>
            </a:solidFill>
            <a:prstDash val="solid"/>
          </a:ln>
        </p:spPr>
      </p:sp>
      <p:sp>
        <p:nvSpPr>
          <p:cNvPr id="40" name="source-rail">
            <a:extLst xmlns:a="http://schemas.openxmlformats.org/drawingml/2006/main">
              <a:ext uri="{FF2B5EF4-FFF2-40B4-BE49-F238E27FC236}">
                <a16:creationId xmlns:a16="http://schemas.microsoft.com/office/drawing/2014/main" id="{054DC142-2BC8-4DCC-A300-0BFE0231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9486900"/>
            <a:ext cx="5734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927F"/>
                </a:solidFill>
              </a:defRPr>
            </a:pPr>
            <a:r>
              <a:rPr sz="975">
                <a:solidFill>
                  <a:srgbClr val="8C927F"/>
                </a:solidFill>
              </a:rPr>
              <a:t>Sources: src/applications/sector_relative_outlook.py; dashboard smoke test metrics from local artifacts.</a:t>
            </a:r>
          </a:p>
        </p:txBody>
      </p:sp>
    </p:spTree>
    <p:extLst>
      <p:ext uri="{BB962C8B-B14F-4D97-AF65-F5344CB8AC3E}">
        <p14:creationId xmlns:p14="http://schemas.microsoft.com/office/powerpoint/2010/main" val="5311154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13-background">
            <a:extLst xmlns:a="http://schemas.openxmlformats.org/drawingml/2006/main">
              <a:ext uri="{FF2B5EF4-FFF2-40B4-BE49-F238E27FC236}">
                <a16:creationId xmlns:a16="http://schemas.microsoft.com/office/drawing/2014/main" id="{04045270-A6E7-493E-82D1-1DD62DBA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D9"/>
          </a:solidFill>
          <a:ln xmlns:a="http://schemas.openxmlformats.org/drawingml/2006/main" w="0">
            <a:solidFill>
              <a:srgbClr val="F4ECD9"/>
            </a:solidFill>
            <a:prstDash val="solid"/>
          </a:ln>
        </p:spPr>
      </p:sp>
      <p:sp>
        <p:nvSpPr>
          <p:cNvPr id="2" name="slide-13-eyebrow">
            <a:extLst xmlns:a="http://schemas.openxmlformats.org/drawingml/2006/main">
              <a:ext uri="{FF2B5EF4-FFF2-40B4-BE49-F238E27FC236}">
                <a16:creationId xmlns:a16="http://schemas.microsoft.com/office/drawing/2014/main" id="{E5A0164D-2305-4CF9-B5B8-89D7DDC9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"/>
            <a:ext cx="590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6858"/>
                </a:solidFill>
              </a:defRPr>
            </a:pPr>
            <a:r>
              <a:rPr sz="1650" b="1">
                <a:solidFill>
                  <a:srgbClr val="2F6858"/>
                </a:solidFill>
              </a:rPr>
              <a:t>NEXT</a:t>
            </a:r>
          </a:p>
        </p:txBody>
      </p:sp>
      <p:sp>
        <p:nvSpPr>
          <p:cNvPr id="3" name="slide-13-title">
            <a:extLst xmlns:a="http://schemas.openxmlformats.org/drawingml/2006/main">
              <a:ext uri="{FF2B5EF4-FFF2-40B4-BE49-F238E27FC236}">
                <a16:creationId xmlns:a16="http://schemas.microsoft.com/office/drawing/2014/main" id="{48432BAE-883B-469D-9BC3-90AC386A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1257300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201B"/>
                </a:solidFill>
              </a:defRPr>
            </a:pPr>
            <a:r>
              <a:rPr sz="4650" b="1">
                <a:solidFill>
                  <a:srgbClr val="17201B"/>
                </a:solidFill>
              </a:rPr>
              <a:t>The right next step is data refresh, not model glitter</a:t>
            </a:r>
          </a:p>
        </p:txBody>
      </p:sp>
      <p:sp>
        <p:nvSpPr>
          <p:cNvPr id="4" name="slide-13-subtitle">
            <a:extLst xmlns:a="http://schemas.openxmlformats.org/drawingml/2006/main">
              <a:ext uri="{FF2B5EF4-FFF2-40B4-BE49-F238E27FC236}">
                <a16:creationId xmlns:a16="http://schemas.microsoft.com/office/drawing/2014/main" id="{72E07EC6-D958-4BD3-A52C-7BBF7C4E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12573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667166"/>
                </a:solidFill>
              </a:defRPr>
            </a:pPr>
            <a:r>
              <a:rPr sz="1875">
                <a:solidFill>
                  <a:srgbClr val="667166"/>
                </a:solidFill>
              </a:rPr>
              <a:t>The codebase is now ready for sharper inputs. The highest-value work is refreshing fundamentals, adding event-aware filing text, and making temporal movement validate around filing dates.</a:t>
            </a:r>
          </a:p>
        </p:txBody>
      </p:sp>
      <p:sp>
        <p:nvSpPr>
          <p:cNvPr id="5" name="callout-mark-Refresh">
            <a:extLst xmlns:a="http://schemas.openxmlformats.org/drawingml/2006/main">
              <a:ext uri="{FF2B5EF4-FFF2-40B4-BE49-F238E27FC236}">
                <a16:creationId xmlns:a16="http://schemas.microsoft.com/office/drawing/2014/main" id="{61E59405-D12F-4921-B2EA-6B64A739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A93E"/>
          </a:solidFill>
          <a:ln xmlns:a="http://schemas.openxmlformats.org/drawingml/2006/main" w="0">
            <a:solidFill>
              <a:srgbClr val="E1A93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C5649-0877-484D-8404-B7F3621B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7962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Refresh fundamentals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89B67-08D9-44E9-856B-B4941920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7962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rerun XBRL companyfacts with cash flow and expanded share-count concepts so valuation features fill in</a:t>
            </a:r>
          </a:p>
        </p:txBody>
      </p:sp>
      <p:sp>
        <p:nvSpPr>
          <p:cNvPr id="8" name="callout-mark-Add 8-K">
            <a:extLst xmlns:a="http://schemas.openxmlformats.org/drawingml/2006/main">
              <a:ext uri="{FF2B5EF4-FFF2-40B4-BE49-F238E27FC236}">
                <a16:creationId xmlns:a16="http://schemas.microsoft.com/office/drawing/2014/main" id="{A861164A-3BD0-4ECD-9D40-971EA16A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956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53D"/>
          </a:solidFill>
          <a:ln xmlns:a="http://schemas.openxmlformats.org/drawingml/2006/main" w="0">
            <a:solidFill>
              <a:srgbClr val="C765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59291-5392-45E2-90FD-04F5ACA3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76550"/>
            <a:ext cx="7962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Add 8-K text to temporal input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AB0DC0-A353-4F8F-8EE2-12D6B0CE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00400"/>
            <a:ext cx="7962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Item 1.01, 2.01, 2.02, 7.01, 8.01 should capture events the 10-K/10-Q view misses</a:t>
            </a:r>
          </a:p>
        </p:txBody>
      </p:sp>
      <p:sp>
        <p:nvSpPr>
          <p:cNvPr id="11" name="callout-mark-Validate">
            <a:extLst xmlns:a="http://schemas.openxmlformats.org/drawingml/2006/main">
              <a:ext uri="{FF2B5EF4-FFF2-40B4-BE49-F238E27FC236}">
                <a16:creationId xmlns:a16="http://schemas.microsoft.com/office/drawing/2014/main" id="{5E4CEBF9-C129-46B1-B0F3-6584453E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722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F9D"/>
          </a:solidFill>
          <a:ln xmlns:a="http://schemas.openxmlformats.org/drawingml/2006/main" w="0">
            <a:solidFill>
              <a:srgbClr val="346F9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A0EFC2-3498-4BEC-A738-C132634F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53150"/>
            <a:ext cx="7962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Validate around filings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0691EF-36AD-4D11-AF67-745786D3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77000"/>
            <a:ext cx="7962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measure velocity around filing dates, not only calendar events whose disclosure channel may differ</a:t>
            </a:r>
          </a:p>
        </p:txBody>
      </p:sp>
      <p:sp>
        <p:nvSpPr>
          <p:cNvPr id="14" name="callout-mark-Keep cov">
            <a:extLst xmlns:a="http://schemas.openxmlformats.org/drawingml/2006/main">
              <a:ext uri="{FF2B5EF4-FFF2-40B4-BE49-F238E27FC236}">
                <a16:creationId xmlns:a16="http://schemas.microsoft.com/office/drawing/2014/main" id="{45507FD4-7EB6-48A6-8BA5-49D6377B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172200"/>
            <a:ext cx="95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858"/>
          </a:solidFill>
          <a:ln xmlns:a="http://schemas.openxmlformats.org/drawingml/2006/main" w="0">
            <a:solidFill>
              <a:srgbClr val="2F68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DF760-9D02-4A47-8F8C-44361AD0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153150"/>
            <a:ext cx="7962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1B"/>
                </a:solidFill>
              </a:defRPr>
            </a:pPr>
            <a:r>
              <a:rPr sz="1875" b="1">
                <a:solidFill>
                  <a:srgbClr val="17201B"/>
                </a:solidFill>
              </a:rPr>
              <a:t>Keep covariance conservative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9330D1-8074-496E-BD4A-C6BA8B78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6477000"/>
            <a:ext cx="79629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7166"/>
                </a:solidFill>
              </a:defRPr>
            </a:pPr>
            <a:r>
              <a:rPr sz="1500">
                <a:solidFill>
                  <a:srgbClr val="667166"/>
                </a:solidFill>
              </a:rPr>
              <a:t>Ledoit-Wolf remains the base; test embedding-informed routing only in slices where evidence repeats</a:t>
            </a:r>
          </a:p>
        </p:txBody>
      </p:sp>
      <p:sp>
        <p:nvSpPr>
          <p:cNvPr id="1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9E600E77-EC07-4B81-83FE-E0AFB6F5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601200"/>
            <a:ext cx="11068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4A5"/>
          </a:solidFill>
          <a:ln xmlns:a="http://schemas.openxmlformats.org/drawingml/2006/main" w="0">
            <a:solidFill>
              <a:srgbClr val="D2C4A5"/>
            </a:solidFill>
            <a:prstDash val="solid"/>
          </a:ln>
        </p:spPr>
      </p:sp>
      <p:sp>
        <p:nvSpPr>
          <p:cNvPr id="18" name="source-rail">
            <a:extLst xmlns:a="http://schemas.openxmlformats.org/drawingml/2006/main">
              <a:ext uri="{FF2B5EF4-FFF2-40B4-BE49-F238E27FC236}">
                <a16:creationId xmlns:a16="http://schemas.microsoft.com/office/drawing/2014/main" id="{E9B05DD4-01D7-47D1-8AD7-CCBF0845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0550" y="9486900"/>
            <a:ext cx="5486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8C927F"/>
                </a:solidFill>
              </a:defRPr>
            </a:pPr>
            <a:r>
              <a:rPr sz="975">
                <a:solidFill>
                  <a:srgbClr val="8C927F"/>
                </a:solidFill>
              </a:rPr>
              <a:t>Sources: report/current_implementation_and_results.md; report/temporal_autoencoder_results.md.</a:t>
            </a:r>
          </a:p>
        </p:txBody>
      </p:sp>
    </p:spTree>
    <p:extLst>
      <p:ext uri="{BB962C8B-B14F-4D97-AF65-F5344CB8AC3E}">
        <p14:creationId xmlns:p14="http://schemas.microsoft.com/office/powerpoint/2010/main" val="12676359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2026-04-27T22:55:42.0890000Z</dcterms:created>
  <dcterms:modified xsi:type="dcterms:W3CDTF">2026-04-27T22:55:42.0890000Z</dcterms:modified>
</coreProperties>
</file>